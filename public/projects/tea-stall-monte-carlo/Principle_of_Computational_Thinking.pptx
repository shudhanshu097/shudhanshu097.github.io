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nria Serif" charset="1" panose="00000000000000000000"/>
      <p:regular r:id="rId17"/>
    </p:embeddedFont>
    <p:embeddedFont>
      <p:font typeface="TT Commons Pro Bold" charset="1" panose="020B0103030102020204"/>
      <p:regular r:id="rId18"/>
    </p:embeddedFont>
    <p:embeddedFont>
      <p:font typeface="Inria Serif Bold" charset="1" panose="00000000000000000000"/>
      <p:regular r:id="rId19"/>
    </p:embeddedFont>
    <p:embeddedFont>
      <p:font typeface="TT Commons Pro" charset="1" panose="020B0103030102020204"/>
      <p:regular r:id="rId20"/>
    </p:embeddedFont>
    <p:embeddedFont>
      <p:font typeface="TT Commons Pro Bold Italics" charset="1" panose="020B0103030102020204"/>
      <p:regular r:id="rId21"/>
    </p:embeddedFont>
    <p:embeddedFont>
      <p:font typeface="Alice"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jpeg" Type="http://schemas.openxmlformats.org/officeDocument/2006/relationships/image"/><Relationship Id="rId12" Target="../media/image13.png" Type="http://schemas.openxmlformats.org/officeDocument/2006/relationships/image"/><Relationship Id="rId13" Target="../media/image14.jpeg" Type="http://schemas.openxmlformats.org/officeDocument/2006/relationships/image"/><Relationship Id="rId14" Target="../media/image15.jpe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embeddings/oleObject1.bin" Type="http://schemas.openxmlformats.org/officeDocument/2006/relationships/oleObject"/><Relationship Id="rId12" Target="../media/image18.png" Type="http://schemas.openxmlformats.org/officeDocument/2006/relationships/image"/><Relationship Id="rId13" Target="../embeddings/oleObject2.bin" Type="http://schemas.openxmlformats.org/officeDocument/2006/relationships/oleObject"/><Relationship Id="rId14" Target="../media/image19.png" Type="http://schemas.openxmlformats.org/officeDocument/2006/relationships/image"/><Relationship Id="rId15" Target="../embeddings/oleObject3.bin" Type="http://schemas.openxmlformats.org/officeDocument/2006/relationships/oleObject"/><Relationship Id="rId16" Target="../media/image20.png" Type="http://schemas.openxmlformats.org/officeDocument/2006/relationships/image"/><Relationship Id="rId17" Target="../embeddings/oleObject4.bin" Type="http://schemas.openxmlformats.org/officeDocument/2006/relationships/oleObject"/><Relationship Id="rId18" Target="../media/image21.png" Type="http://schemas.openxmlformats.org/officeDocument/2006/relationships/image"/><Relationship Id="rId19" Target="../embeddings/oleObject5.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true" rot="0">
            <a:off x="-3795005" y="1556844"/>
            <a:ext cx="4823705" cy="4114800"/>
          </a:xfrm>
          <a:custGeom>
            <a:avLst/>
            <a:gdLst/>
            <a:ahLst/>
            <a:cxnLst/>
            <a:rect r="r" b="b" t="t" l="l"/>
            <a:pathLst>
              <a:path h="4114800" w="4823705">
                <a:moveTo>
                  <a:pt x="0" y="4114800"/>
                </a:moveTo>
                <a:lnTo>
                  <a:pt x="4823705" y="4114800"/>
                </a:lnTo>
                <a:lnTo>
                  <a:pt x="482370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745001">
            <a:off x="147317" y="31948"/>
            <a:ext cx="1762766" cy="4114800"/>
          </a:xfrm>
          <a:custGeom>
            <a:avLst/>
            <a:gdLst/>
            <a:ahLst/>
            <a:cxnLst/>
            <a:rect r="r" b="b" t="t" l="l"/>
            <a:pathLst>
              <a:path h="4114800" w="1762766">
                <a:moveTo>
                  <a:pt x="0" y="0"/>
                </a:moveTo>
                <a:lnTo>
                  <a:pt x="1762766" y="0"/>
                </a:lnTo>
                <a:lnTo>
                  <a:pt x="176276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16794618" y="4843293"/>
            <a:ext cx="4823705" cy="4114800"/>
          </a:xfrm>
          <a:custGeom>
            <a:avLst/>
            <a:gdLst/>
            <a:ahLst/>
            <a:cxnLst/>
            <a:rect r="r" b="b" t="t" l="l"/>
            <a:pathLst>
              <a:path h="4114800" w="4823705">
                <a:moveTo>
                  <a:pt x="0" y="4114800"/>
                </a:moveTo>
                <a:lnTo>
                  <a:pt x="4823705" y="4114800"/>
                </a:lnTo>
                <a:lnTo>
                  <a:pt x="482370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1745001">
            <a:off x="16377917" y="6140252"/>
            <a:ext cx="1762766" cy="4114800"/>
          </a:xfrm>
          <a:custGeom>
            <a:avLst/>
            <a:gdLst/>
            <a:ahLst/>
            <a:cxnLst/>
            <a:rect r="r" b="b" t="t" l="l"/>
            <a:pathLst>
              <a:path h="4114800" w="1762766">
                <a:moveTo>
                  <a:pt x="1762766" y="4114800"/>
                </a:moveTo>
                <a:lnTo>
                  <a:pt x="0" y="4114800"/>
                </a:lnTo>
                <a:lnTo>
                  <a:pt x="0" y="0"/>
                </a:lnTo>
                <a:lnTo>
                  <a:pt x="1762766" y="0"/>
                </a:lnTo>
                <a:lnTo>
                  <a:pt x="1762766"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58623" y="6900693"/>
            <a:ext cx="5116974" cy="5116974"/>
          </a:xfrm>
          <a:custGeom>
            <a:avLst/>
            <a:gdLst/>
            <a:ahLst/>
            <a:cxnLst/>
            <a:rect r="r" b="b" t="t" l="l"/>
            <a:pathLst>
              <a:path h="5116974" w="5116974">
                <a:moveTo>
                  <a:pt x="0" y="0"/>
                </a:moveTo>
                <a:lnTo>
                  <a:pt x="5116974" y="0"/>
                </a:lnTo>
                <a:lnTo>
                  <a:pt x="5116974" y="5116975"/>
                </a:lnTo>
                <a:lnTo>
                  <a:pt x="0" y="51169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929649" y="-1730668"/>
            <a:ext cx="5116974" cy="5116974"/>
          </a:xfrm>
          <a:custGeom>
            <a:avLst/>
            <a:gdLst/>
            <a:ahLst/>
            <a:cxnLst/>
            <a:rect r="r" b="b" t="t" l="l"/>
            <a:pathLst>
              <a:path h="5116974" w="5116974">
                <a:moveTo>
                  <a:pt x="0" y="0"/>
                </a:moveTo>
                <a:lnTo>
                  <a:pt x="5116974" y="0"/>
                </a:lnTo>
                <a:lnTo>
                  <a:pt x="5116974" y="5116975"/>
                </a:lnTo>
                <a:lnTo>
                  <a:pt x="0" y="51169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355949" y="9258300"/>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4161366" y="-1646271"/>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5400000">
            <a:off x="6319751" y="7967749"/>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5400000">
            <a:off x="10434551" y="-1795549"/>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582441" y="1131971"/>
            <a:ext cx="17123118" cy="6057298"/>
          </a:xfrm>
          <a:prstGeom prst="rect">
            <a:avLst/>
          </a:prstGeom>
        </p:spPr>
        <p:txBody>
          <a:bodyPr anchor="t" rtlCol="false" tIns="0" lIns="0" bIns="0" rIns="0">
            <a:spAutoFit/>
          </a:bodyPr>
          <a:lstStyle/>
          <a:p>
            <a:pPr algn="ctr">
              <a:lnSpc>
                <a:spcPts val="15410"/>
              </a:lnSpc>
            </a:pPr>
            <a:r>
              <a:rPr lang="en-US" sz="17712" u="sng">
                <a:solidFill>
                  <a:srgbClr val="728F82"/>
                </a:solidFill>
                <a:latin typeface="Inria Serif"/>
                <a:ea typeface="Inria Serif"/>
                <a:cs typeface="Inria Serif"/>
                <a:sym typeface="Inria Serif"/>
              </a:rPr>
              <a:t>Principles of Computational Thinking </a:t>
            </a:r>
          </a:p>
        </p:txBody>
      </p:sp>
      <p:sp>
        <p:nvSpPr>
          <p:cNvPr name="TextBox 13" id="13"/>
          <p:cNvSpPr txBox="true"/>
          <p:nvPr/>
        </p:nvSpPr>
        <p:spPr>
          <a:xfrm rot="0">
            <a:off x="3208994" y="7974699"/>
            <a:ext cx="11315305" cy="598305"/>
          </a:xfrm>
          <a:prstGeom prst="rect">
            <a:avLst/>
          </a:prstGeom>
        </p:spPr>
        <p:txBody>
          <a:bodyPr anchor="t" rtlCol="false" tIns="0" lIns="0" bIns="0" rIns="0">
            <a:spAutoFit/>
          </a:bodyPr>
          <a:lstStyle/>
          <a:p>
            <a:pPr algn="ctr">
              <a:lnSpc>
                <a:spcPts val="4313"/>
              </a:lnSpc>
            </a:pPr>
            <a:r>
              <a:rPr lang="en-US" sz="4957" b="true">
                <a:solidFill>
                  <a:srgbClr val="728F82"/>
                </a:solidFill>
                <a:latin typeface="TT Commons Pro Bold"/>
                <a:ea typeface="TT Commons Pro Bold"/>
                <a:cs typeface="TT Commons Pro Bold"/>
                <a:sym typeface="TT Commons Pro Bold"/>
              </a:rPr>
              <a:t>Topic - Tea Stall</a:t>
            </a:r>
          </a:p>
        </p:txBody>
      </p:sp>
      <p:sp>
        <p:nvSpPr>
          <p:cNvPr name="TextBox 14" id="14"/>
          <p:cNvSpPr txBox="true"/>
          <p:nvPr/>
        </p:nvSpPr>
        <p:spPr>
          <a:xfrm rot="0">
            <a:off x="7415751" y="8678318"/>
            <a:ext cx="2901791" cy="579982"/>
          </a:xfrm>
          <a:prstGeom prst="rect">
            <a:avLst/>
          </a:prstGeom>
        </p:spPr>
        <p:txBody>
          <a:bodyPr anchor="t" rtlCol="false" tIns="0" lIns="0" bIns="0" rIns="0">
            <a:spAutoFit/>
          </a:bodyPr>
          <a:lstStyle/>
          <a:p>
            <a:pPr algn="ctr">
              <a:lnSpc>
                <a:spcPts val="4782"/>
              </a:lnSpc>
              <a:spcBef>
                <a:spcPct val="0"/>
              </a:spcBef>
            </a:pPr>
            <a:r>
              <a:rPr lang="en-US" b="true" sz="3416">
                <a:solidFill>
                  <a:srgbClr val="728F82"/>
                </a:solidFill>
                <a:latin typeface="Inria Serif Bold"/>
                <a:ea typeface="Inria Serif Bold"/>
                <a:cs typeface="Inria Serif Bold"/>
                <a:sym typeface="Inria Serif Bold"/>
              </a:rPr>
              <a:t>PCT- GROUP 12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6071046" y="366715"/>
            <a:ext cx="6145908" cy="1236510"/>
          </a:xfrm>
          <a:prstGeom prst="rect">
            <a:avLst/>
          </a:prstGeom>
        </p:spPr>
        <p:txBody>
          <a:bodyPr anchor="t" rtlCol="false" tIns="0" lIns="0" bIns="0" rIns="0">
            <a:spAutoFit/>
          </a:bodyPr>
          <a:lstStyle/>
          <a:p>
            <a:pPr algn="ctr">
              <a:lnSpc>
                <a:spcPts val="8861"/>
              </a:lnSpc>
            </a:pPr>
            <a:r>
              <a:rPr lang="en-US" b="true" sz="10185" u="sng">
                <a:solidFill>
                  <a:srgbClr val="728F82"/>
                </a:solidFill>
                <a:latin typeface="Inria Serif Bold"/>
                <a:ea typeface="Inria Serif Bold"/>
                <a:cs typeface="Inria Serif Bold"/>
                <a:sym typeface="Inria Serif Bold"/>
              </a:rPr>
              <a:t>O</a:t>
            </a:r>
            <a:r>
              <a:rPr lang="en-US" b="true" sz="10185" u="sng">
                <a:solidFill>
                  <a:srgbClr val="728F82"/>
                </a:solidFill>
                <a:latin typeface="Inria Serif Bold"/>
                <a:ea typeface="Inria Serif Bold"/>
                <a:cs typeface="Inria Serif Bold"/>
                <a:sym typeface="Inria Serif Bold"/>
              </a:rPr>
              <a:t>ur team</a:t>
            </a:r>
          </a:p>
        </p:txBody>
      </p:sp>
      <p:sp>
        <p:nvSpPr>
          <p:cNvPr name="TextBox 3" id="3"/>
          <p:cNvSpPr txBox="true"/>
          <p:nvPr/>
        </p:nvSpPr>
        <p:spPr>
          <a:xfrm rot="0">
            <a:off x="-1567723" y="5021005"/>
            <a:ext cx="8277776" cy="829406"/>
          </a:xfrm>
          <a:prstGeom prst="rect">
            <a:avLst/>
          </a:prstGeom>
        </p:spPr>
        <p:txBody>
          <a:bodyPr anchor="t" rtlCol="false" tIns="0" lIns="0" bIns="0" rIns="0">
            <a:spAutoFit/>
          </a:bodyPr>
          <a:lstStyle/>
          <a:p>
            <a:pPr algn="ctr">
              <a:lnSpc>
                <a:spcPts val="3178"/>
              </a:lnSpc>
            </a:pPr>
            <a:r>
              <a:rPr lang="en-US" sz="3653">
                <a:solidFill>
                  <a:srgbClr val="728F82"/>
                </a:solidFill>
                <a:latin typeface="TT Commons Pro"/>
                <a:ea typeface="TT Commons Pro"/>
                <a:cs typeface="TT Commons Pro"/>
                <a:sym typeface="TT Commons Pro"/>
              </a:rPr>
              <a:t>Priyanshu singh</a:t>
            </a:r>
          </a:p>
          <a:p>
            <a:pPr algn="ctr">
              <a:lnSpc>
                <a:spcPts val="3178"/>
              </a:lnSpc>
            </a:pPr>
            <a:r>
              <a:rPr lang="en-US" sz="3653">
                <a:solidFill>
                  <a:srgbClr val="728F82"/>
                </a:solidFill>
                <a:latin typeface="TT Commons Pro"/>
                <a:ea typeface="TT Commons Pro"/>
                <a:cs typeface="TT Commons Pro"/>
                <a:sym typeface="TT Commons Pro"/>
              </a:rPr>
              <a:t>IPM25104</a:t>
            </a:r>
          </a:p>
        </p:txBody>
      </p:sp>
      <p:sp>
        <p:nvSpPr>
          <p:cNvPr name="TextBox 4" id="4"/>
          <p:cNvSpPr txBox="true"/>
          <p:nvPr/>
        </p:nvSpPr>
        <p:spPr>
          <a:xfrm rot="0">
            <a:off x="4803626" y="5039792"/>
            <a:ext cx="8277776" cy="829406"/>
          </a:xfrm>
          <a:prstGeom prst="rect">
            <a:avLst/>
          </a:prstGeom>
        </p:spPr>
        <p:txBody>
          <a:bodyPr anchor="t" rtlCol="false" tIns="0" lIns="0" bIns="0" rIns="0">
            <a:spAutoFit/>
          </a:bodyPr>
          <a:lstStyle/>
          <a:p>
            <a:pPr algn="ctr">
              <a:lnSpc>
                <a:spcPts val="3178"/>
              </a:lnSpc>
            </a:pPr>
            <a:r>
              <a:rPr lang="en-US" sz="3653">
                <a:solidFill>
                  <a:srgbClr val="728F82"/>
                </a:solidFill>
                <a:latin typeface="TT Commons Pro"/>
                <a:ea typeface="TT Commons Pro"/>
                <a:cs typeface="TT Commons Pro"/>
                <a:sym typeface="TT Commons Pro"/>
              </a:rPr>
              <a:t>Shudhanshu Jaiswal</a:t>
            </a:r>
          </a:p>
          <a:p>
            <a:pPr algn="ctr">
              <a:lnSpc>
                <a:spcPts val="3178"/>
              </a:lnSpc>
            </a:pPr>
            <a:r>
              <a:rPr lang="en-US" sz="3653">
                <a:solidFill>
                  <a:srgbClr val="728F82"/>
                </a:solidFill>
                <a:latin typeface="TT Commons Pro"/>
                <a:ea typeface="TT Commons Pro"/>
                <a:cs typeface="TT Commons Pro"/>
                <a:sym typeface="TT Commons Pro"/>
              </a:rPr>
              <a:t>IPM25125</a:t>
            </a:r>
          </a:p>
        </p:txBody>
      </p:sp>
      <p:sp>
        <p:nvSpPr>
          <p:cNvPr name="TextBox 5" id="5"/>
          <p:cNvSpPr txBox="true"/>
          <p:nvPr/>
        </p:nvSpPr>
        <p:spPr>
          <a:xfrm rot="0">
            <a:off x="10512203" y="5021005"/>
            <a:ext cx="8277776" cy="829406"/>
          </a:xfrm>
          <a:prstGeom prst="rect">
            <a:avLst/>
          </a:prstGeom>
        </p:spPr>
        <p:txBody>
          <a:bodyPr anchor="t" rtlCol="false" tIns="0" lIns="0" bIns="0" rIns="0">
            <a:spAutoFit/>
          </a:bodyPr>
          <a:lstStyle/>
          <a:p>
            <a:pPr algn="ctr">
              <a:lnSpc>
                <a:spcPts val="3178"/>
              </a:lnSpc>
            </a:pPr>
            <a:r>
              <a:rPr lang="en-US" sz="3653">
                <a:solidFill>
                  <a:srgbClr val="728F82"/>
                </a:solidFill>
                <a:latin typeface="TT Commons Pro"/>
                <a:ea typeface="TT Commons Pro"/>
                <a:cs typeface="TT Commons Pro"/>
                <a:sym typeface="TT Commons Pro"/>
              </a:rPr>
              <a:t>Helly Vyas</a:t>
            </a:r>
          </a:p>
          <a:p>
            <a:pPr algn="ctr">
              <a:lnSpc>
                <a:spcPts val="3178"/>
              </a:lnSpc>
            </a:pPr>
            <a:r>
              <a:rPr lang="en-US" sz="3653">
                <a:solidFill>
                  <a:srgbClr val="728F82"/>
                </a:solidFill>
                <a:latin typeface="TT Commons Pro"/>
                <a:ea typeface="TT Commons Pro"/>
                <a:cs typeface="TT Commons Pro"/>
                <a:sym typeface="TT Commons Pro"/>
              </a:rPr>
              <a:t>IPM25059</a:t>
            </a:r>
          </a:p>
        </p:txBody>
      </p:sp>
      <p:sp>
        <p:nvSpPr>
          <p:cNvPr name="TextBox 6" id="6"/>
          <p:cNvSpPr txBox="true"/>
          <p:nvPr/>
        </p:nvSpPr>
        <p:spPr>
          <a:xfrm rot="0">
            <a:off x="664738" y="9021885"/>
            <a:ext cx="8277776" cy="829406"/>
          </a:xfrm>
          <a:prstGeom prst="rect">
            <a:avLst/>
          </a:prstGeom>
        </p:spPr>
        <p:txBody>
          <a:bodyPr anchor="t" rtlCol="false" tIns="0" lIns="0" bIns="0" rIns="0">
            <a:spAutoFit/>
          </a:bodyPr>
          <a:lstStyle/>
          <a:p>
            <a:pPr algn="ctr">
              <a:lnSpc>
                <a:spcPts val="3178"/>
              </a:lnSpc>
            </a:pPr>
            <a:r>
              <a:rPr lang="en-US" sz="3653">
                <a:solidFill>
                  <a:srgbClr val="728F82"/>
                </a:solidFill>
                <a:latin typeface="TT Commons Pro"/>
                <a:ea typeface="TT Commons Pro"/>
                <a:cs typeface="TT Commons Pro"/>
                <a:sym typeface="TT Commons Pro"/>
              </a:rPr>
              <a:t>Anushka Jain</a:t>
            </a:r>
          </a:p>
          <a:p>
            <a:pPr algn="ctr">
              <a:lnSpc>
                <a:spcPts val="3178"/>
              </a:lnSpc>
            </a:pPr>
            <a:r>
              <a:rPr lang="en-US" sz="3653">
                <a:solidFill>
                  <a:srgbClr val="728F82"/>
                </a:solidFill>
                <a:latin typeface="TT Commons Pro"/>
                <a:ea typeface="TT Commons Pro"/>
                <a:cs typeface="TT Commons Pro"/>
                <a:sym typeface="TT Commons Pro"/>
              </a:rPr>
              <a:t>IPM25025</a:t>
            </a:r>
          </a:p>
        </p:txBody>
      </p:sp>
      <p:sp>
        <p:nvSpPr>
          <p:cNvPr name="Freeform 7" id="7"/>
          <p:cNvSpPr/>
          <p:nvPr/>
        </p:nvSpPr>
        <p:spPr>
          <a:xfrm flipH="false" flipV="false" rot="0">
            <a:off x="14929649" y="-1730668"/>
            <a:ext cx="5116974" cy="5116974"/>
          </a:xfrm>
          <a:custGeom>
            <a:avLst/>
            <a:gdLst/>
            <a:ahLst/>
            <a:cxnLst/>
            <a:rect r="r" b="b" t="t" l="l"/>
            <a:pathLst>
              <a:path h="5116974" w="5116974">
                <a:moveTo>
                  <a:pt x="0" y="0"/>
                </a:moveTo>
                <a:lnTo>
                  <a:pt x="5116974" y="0"/>
                </a:lnTo>
                <a:lnTo>
                  <a:pt x="5116974" y="5116975"/>
                </a:lnTo>
                <a:lnTo>
                  <a:pt x="0" y="51169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261851" y="6705488"/>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745001">
            <a:off x="976132" y="386819"/>
            <a:ext cx="1234273" cy="2881145"/>
          </a:xfrm>
          <a:custGeom>
            <a:avLst/>
            <a:gdLst/>
            <a:ahLst/>
            <a:cxnLst/>
            <a:rect r="r" b="b" t="t" l="l"/>
            <a:pathLst>
              <a:path h="2881145" w="1234273">
                <a:moveTo>
                  <a:pt x="0" y="0"/>
                </a:moveTo>
                <a:lnTo>
                  <a:pt x="1234272" y="0"/>
                </a:lnTo>
                <a:lnTo>
                  <a:pt x="1234272" y="2881146"/>
                </a:lnTo>
                <a:lnTo>
                  <a:pt x="0" y="2881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true" rot="1745001">
            <a:off x="15843422" y="6803356"/>
            <a:ext cx="1281043" cy="2990320"/>
          </a:xfrm>
          <a:custGeom>
            <a:avLst/>
            <a:gdLst/>
            <a:ahLst/>
            <a:cxnLst/>
            <a:rect r="r" b="b" t="t" l="l"/>
            <a:pathLst>
              <a:path h="2990320" w="1281043">
                <a:moveTo>
                  <a:pt x="1281042" y="2990321"/>
                </a:moveTo>
                <a:lnTo>
                  <a:pt x="0" y="2990321"/>
                </a:lnTo>
                <a:lnTo>
                  <a:pt x="0" y="0"/>
                </a:lnTo>
                <a:lnTo>
                  <a:pt x="1281042" y="0"/>
                </a:lnTo>
                <a:lnTo>
                  <a:pt x="1281042" y="29903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4161366" y="-1646271"/>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0512203" y="9258300"/>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1028115" y="1829867"/>
            <a:ext cx="3086100" cy="30861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8F82"/>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3208786" y="5811960"/>
            <a:ext cx="3086100" cy="30861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8F82"/>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7399464" y="1843257"/>
            <a:ext cx="3086100" cy="308610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8F82"/>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0673904" y="5964448"/>
            <a:ext cx="2857763" cy="285776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8F82"/>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3069207" y="1735055"/>
            <a:ext cx="3086100" cy="308610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8F82"/>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54938" y="1471264"/>
            <a:ext cx="4548688" cy="3613682"/>
          </a:xfrm>
          <a:custGeom>
            <a:avLst/>
            <a:gdLst/>
            <a:ahLst/>
            <a:cxnLst/>
            <a:rect r="r" b="b" t="t" l="l"/>
            <a:pathLst>
              <a:path h="3613682" w="4548688">
                <a:moveTo>
                  <a:pt x="0" y="0"/>
                </a:moveTo>
                <a:lnTo>
                  <a:pt x="4548688" y="0"/>
                </a:lnTo>
                <a:lnTo>
                  <a:pt x="4548688" y="3613682"/>
                </a:lnTo>
                <a:lnTo>
                  <a:pt x="0" y="3613682"/>
                </a:lnTo>
                <a:lnTo>
                  <a:pt x="0" y="0"/>
                </a:lnTo>
                <a:close/>
              </a:path>
            </a:pathLst>
          </a:custGeom>
          <a:blipFill>
            <a:blip r:embed="rId10"/>
            <a:stretch>
              <a:fillRect l="0" t="-13674" r="0" b="0"/>
            </a:stretch>
          </a:blipFill>
        </p:spPr>
      </p:sp>
      <p:grpSp>
        <p:nvGrpSpPr>
          <p:cNvPr name="Group 29" id="29"/>
          <p:cNvGrpSpPr/>
          <p:nvPr/>
        </p:nvGrpSpPr>
        <p:grpSpPr>
          <a:xfrm rot="0">
            <a:off x="3208786" y="5811960"/>
            <a:ext cx="3086100" cy="3086100"/>
            <a:chOff x="0" y="0"/>
            <a:chExt cx="921000" cy="921000"/>
          </a:xfrm>
        </p:grpSpPr>
        <p:sp>
          <p:nvSpPr>
            <p:cNvPr name="Freeform 30" id="30"/>
            <p:cNvSpPr/>
            <p:nvPr/>
          </p:nvSpPr>
          <p:spPr>
            <a:xfrm flipH="false" flipV="false" rot="0">
              <a:off x="0" y="0"/>
              <a:ext cx="921000" cy="921000"/>
            </a:xfrm>
            <a:custGeom>
              <a:avLst/>
              <a:gdLst/>
              <a:ahLst/>
              <a:cxnLst/>
              <a:rect r="r" b="b" t="t" l="l"/>
              <a:pathLst>
                <a:path h="921000" w="921000">
                  <a:moveTo>
                    <a:pt x="460500" y="0"/>
                  </a:moveTo>
                  <a:cubicBezTo>
                    <a:pt x="206173" y="0"/>
                    <a:pt x="0" y="206173"/>
                    <a:pt x="0" y="460500"/>
                  </a:cubicBezTo>
                  <a:cubicBezTo>
                    <a:pt x="0" y="714827"/>
                    <a:pt x="206173" y="921000"/>
                    <a:pt x="460500" y="921000"/>
                  </a:cubicBezTo>
                  <a:cubicBezTo>
                    <a:pt x="714827" y="921000"/>
                    <a:pt x="921000" y="714827"/>
                    <a:pt x="921000" y="460500"/>
                  </a:cubicBezTo>
                  <a:cubicBezTo>
                    <a:pt x="921000" y="206173"/>
                    <a:pt x="714827" y="0"/>
                    <a:pt x="460500" y="0"/>
                  </a:cubicBezTo>
                  <a:close/>
                </a:path>
              </a:pathLst>
            </a:custGeom>
            <a:blipFill>
              <a:blip r:embed="rId11"/>
              <a:stretch>
                <a:fillRect l="0" t="0" r="0" b="-21140"/>
              </a:stretch>
            </a:blipFill>
          </p:spPr>
        </p:sp>
      </p:grpSp>
      <p:sp>
        <p:nvSpPr>
          <p:cNvPr name="Freeform 31" id="31"/>
          <p:cNvSpPr/>
          <p:nvPr/>
        </p:nvSpPr>
        <p:spPr>
          <a:xfrm flipH="false" flipV="false" rot="0">
            <a:off x="7181424" y="1928016"/>
            <a:ext cx="3522180" cy="3001340"/>
          </a:xfrm>
          <a:custGeom>
            <a:avLst/>
            <a:gdLst/>
            <a:ahLst/>
            <a:cxnLst/>
            <a:rect r="r" b="b" t="t" l="l"/>
            <a:pathLst>
              <a:path h="3001340" w="3522180">
                <a:moveTo>
                  <a:pt x="0" y="0"/>
                </a:moveTo>
                <a:lnTo>
                  <a:pt x="3522181" y="0"/>
                </a:lnTo>
                <a:lnTo>
                  <a:pt x="3522181" y="3001341"/>
                </a:lnTo>
                <a:lnTo>
                  <a:pt x="0" y="3001341"/>
                </a:lnTo>
                <a:lnTo>
                  <a:pt x="0" y="0"/>
                </a:lnTo>
                <a:close/>
              </a:path>
            </a:pathLst>
          </a:custGeom>
          <a:blipFill>
            <a:blip r:embed="rId12"/>
            <a:stretch>
              <a:fillRect l="0" t="0" r="0" b="0"/>
            </a:stretch>
          </a:blipFill>
        </p:spPr>
      </p:sp>
      <p:grpSp>
        <p:nvGrpSpPr>
          <p:cNvPr name="Group 32" id="32"/>
          <p:cNvGrpSpPr/>
          <p:nvPr/>
        </p:nvGrpSpPr>
        <p:grpSpPr>
          <a:xfrm rot="0">
            <a:off x="12950885" y="1735055"/>
            <a:ext cx="3344867" cy="3086100"/>
            <a:chOff x="0" y="0"/>
            <a:chExt cx="780852" cy="720443"/>
          </a:xfrm>
        </p:grpSpPr>
        <p:sp>
          <p:nvSpPr>
            <p:cNvPr name="Freeform 33" id="33"/>
            <p:cNvSpPr/>
            <p:nvPr/>
          </p:nvSpPr>
          <p:spPr>
            <a:xfrm flipH="false" flipV="false" rot="0">
              <a:off x="0" y="0"/>
              <a:ext cx="780852" cy="720443"/>
            </a:xfrm>
            <a:custGeom>
              <a:avLst/>
              <a:gdLst/>
              <a:ahLst/>
              <a:cxnLst/>
              <a:rect r="r" b="b" t="t" l="l"/>
              <a:pathLst>
                <a:path h="720443" w="780852">
                  <a:moveTo>
                    <a:pt x="390426" y="0"/>
                  </a:moveTo>
                  <a:cubicBezTo>
                    <a:pt x="174800" y="0"/>
                    <a:pt x="0" y="161277"/>
                    <a:pt x="0" y="360221"/>
                  </a:cubicBezTo>
                  <a:cubicBezTo>
                    <a:pt x="0" y="559166"/>
                    <a:pt x="174800" y="720443"/>
                    <a:pt x="390426" y="720443"/>
                  </a:cubicBezTo>
                  <a:cubicBezTo>
                    <a:pt x="606052" y="720443"/>
                    <a:pt x="780852" y="559166"/>
                    <a:pt x="780852" y="360221"/>
                  </a:cubicBezTo>
                  <a:cubicBezTo>
                    <a:pt x="780852" y="161277"/>
                    <a:pt x="606052" y="0"/>
                    <a:pt x="390426" y="0"/>
                  </a:cubicBezTo>
                  <a:close/>
                </a:path>
              </a:pathLst>
            </a:custGeom>
            <a:blipFill>
              <a:blip r:embed="rId13"/>
              <a:stretch>
                <a:fillRect l="0" t="-51989" r="0" b="-86397"/>
              </a:stretch>
            </a:blipFill>
          </p:spPr>
        </p:sp>
      </p:grpSp>
      <p:grpSp>
        <p:nvGrpSpPr>
          <p:cNvPr name="Group 34" id="34"/>
          <p:cNvGrpSpPr/>
          <p:nvPr/>
        </p:nvGrpSpPr>
        <p:grpSpPr>
          <a:xfrm rot="0">
            <a:off x="10668294" y="5945398"/>
            <a:ext cx="2927178" cy="2876813"/>
            <a:chOff x="0" y="0"/>
            <a:chExt cx="796503" cy="782798"/>
          </a:xfrm>
        </p:grpSpPr>
        <p:sp>
          <p:nvSpPr>
            <p:cNvPr name="Freeform 35" id="35"/>
            <p:cNvSpPr/>
            <p:nvPr/>
          </p:nvSpPr>
          <p:spPr>
            <a:xfrm flipH="false" flipV="false" rot="0">
              <a:off x="0" y="0"/>
              <a:ext cx="796503" cy="782798"/>
            </a:xfrm>
            <a:custGeom>
              <a:avLst/>
              <a:gdLst/>
              <a:ahLst/>
              <a:cxnLst/>
              <a:rect r="r" b="b" t="t" l="l"/>
              <a:pathLst>
                <a:path h="782798" w="796503">
                  <a:moveTo>
                    <a:pt x="398252" y="0"/>
                  </a:moveTo>
                  <a:cubicBezTo>
                    <a:pt x="178303" y="0"/>
                    <a:pt x="0" y="175235"/>
                    <a:pt x="0" y="391399"/>
                  </a:cubicBezTo>
                  <a:cubicBezTo>
                    <a:pt x="0" y="607563"/>
                    <a:pt x="178303" y="782798"/>
                    <a:pt x="398252" y="782798"/>
                  </a:cubicBezTo>
                  <a:cubicBezTo>
                    <a:pt x="618200" y="782798"/>
                    <a:pt x="796503" y="607563"/>
                    <a:pt x="796503" y="391399"/>
                  </a:cubicBezTo>
                  <a:cubicBezTo>
                    <a:pt x="796503" y="175235"/>
                    <a:pt x="618200" y="0"/>
                    <a:pt x="398252" y="0"/>
                  </a:cubicBezTo>
                  <a:close/>
                </a:path>
              </a:pathLst>
            </a:custGeom>
            <a:blipFill>
              <a:blip r:embed="rId14"/>
              <a:stretch>
                <a:fillRect l="0" t="-72379" r="0" b="-53733"/>
              </a:stretch>
            </a:blipFill>
          </p:spPr>
        </p:sp>
      </p:grpSp>
      <p:sp>
        <p:nvSpPr>
          <p:cNvPr name="TextBox 36" id="36"/>
          <p:cNvSpPr txBox="true"/>
          <p:nvPr/>
        </p:nvSpPr>
        <p:spPr>
          <a:xfrm rot="0">
            <a:off x="10313763" y="8755536"/>
            <a:ext cx="3806382" cy="1269365"/>
          </a:xfrm>
          <a:prstGeom prst="rect">
            <a:avLst/>
          </a:prstGeom>
        </p:spPr>
        <p:txBody>
          <a:bodyPr anchor="t" rtlCol="false" tIns="0" lIns="0" bIns="0" rIns="0">
            <a:spAutoFit/>
          </a:bodyPr>
          <a:lstStyle/>
          <a:p>
            <a:pPr algn="ctr">
              <a:lnSpc>
                <a:spcPts val="5110"/>
              </a:lnSpc>
            </a:pPr>
            <a:r>
              <a:rPr lang="en-US" sz="3650">
                <a:solidFill>
                  <a:srgbClr val="728F82"/>
                </a:solidFill>
                <a:latin typeface="TT Commons Pro"/>
                <a:ea typeface="TT Commons Pro"/>
                <a:cs typeface="TT Commons Pro"/>
                <a:sym typeface="TT Commons Pro"/>
              </a:rPr>
              <a:t>Mishti Aggrawal</a:t>
            </a:r>
          </a:p>
          <a:p>
            <a:pPr algn="ctr">
              <a:lnSpc>
                <a:spcPts val="5110"/>
              </a:lnSpc>
              <a:spcBef>
                <a:spcPct val="0"/>
              </a:spcBef>
            </a:pPr>
            <a:r>
              <a:rPr lang="en-US" sz="3650">
                <a:solidFill>
                  <a:srgbClr val="728F82"/>
                </a:solidFill>
                <a:latin typeface="TT Commons Pro"/>
                <a:ea typeface="TT Commons Pro"/>
                <a:cs typeface="TT Commons Pro"/>
                <a:sym typeface="TT Commons Pro"/>
              </a:rPr>
              <a:t>IPM25081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true" rot="1745001">
            <a:off x="14320517" y="4151992"/>
            <a:ext cx="1762766" cy="4114800"/>
          </a:xfrm>
          <a:custGeom>
            <a:avLst/>
            <a:gdLst/>
            <a:ahLst/>
            <a:cxnLst/>
            <a:rect r="r" b="b" t="t" l="l"/>
            <a:pathLst>
              <a:path h="4114800" w="1762766">
                <a:moveTo>
                  <a:pt x="0" y="4114800"/>
                </a:moveTo>
                <a:lnTo>
                  <a:pt x="1762766" y="4114800"/>
                </a:lnTo>
                <a:lnTo>
                  <a:pt x="1762766"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081838" y="-1290551"/>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67697" y="1295473"/>
            <a:ext cx="17043815" cy="1236510"/>
          </a:xfrm>
          <a:prstGeom prst="rect">
            <a:avLst/>
          </a:prstGeom>
        </p:spPr>
        <p:txBody>
          <a:bodyPr anchor="t" rtlCol="false" tIns="0" lIns="0" bIns="0" rIns="0">
            <a:spAutoFit/>
          </a:bodyPr>
          <a:lstStyle/>
          <a:p>
            <a:pPr algn="ctr">
              <a:lnSpc>
                <a:spcPts val="8861"/>
              </a:lnSpc>
            </a:pPr>
            <a:r>
              <a:rPr lang="en-US" b="true" sz="10185" u="sng">
                <a:solidFill>
                  <a:srgbClr val="728F82"/>
                </a:solidFill>
                <a:latin typeface="Inria Serif Bold"/>
                <a:ea typeface="Inria Serif Bold"/>
                <a:cs typeface="Inria Serif Bold"/>
                <a:sym typeface="Inria Serif Bold"/>
              </a:rPr>
              <a:t>Objective of this simulation</a:t>
            </a:r>
          </a:p>
        </p:txBody>
      </p:sp>
      <p:sp>
        <p:nvSpPr>
          <p:cNvPr name="Freeform 5" id="5"/>
          <p:cNvSpPr/>
          <p:nvPr/>
        </p:nvSpPr>
        <p:spPr>
          <a:xfrm flipH="false" flipV="false" rot="0">
            <a:off x="-2558487" y="7372305"/>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201900" y="8593306"/>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029374" y="2260765"/>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3952" y="2990158"/>
            <a:ext cx="16235348" cy="6381319"/>
          </a:xfrm>
          <a:prstGeom prst="rect">
            <a:avLst/>
          </a:prstGeom>
        </p:spPr>
        <p:txBody>
          <a:bodyPr anchor="t" rtlCol="false" tIns="0" lIns="0" bIns="0" rIns="0">
            <a:spAutoFit/>
          </a:bodyPr>
          <a:lstStyle/>
          <a:p>
            <a:pPr algn="l">
              <a:lnSpc>
                <a:spcPts val="4223"/>
              </a:lnSpc>
              <a:spcBef>
                <a:spcPct val="0"/>
              </a:spcBef>
            </a:pPr>
            <a:r>
              <a:rPr lang="en-US" b="true" sz="3016">
                <a:solidFill>
                  <a:srgbClr val="728F82"/>
                </a:solidFill>
                <a:latin typeface="TT Commons Pro Bold"/>
                <a:ea typeface="TT Commons Pro Bold"/>
                <a:cs typeface="TT Commons Pro Bold"/>
                <a:sym typeface="TT Commons Pro Bold"/>
              </a:rPr>
              <a:t>•</a:t>
            </a:r>
            <a:r>
              <a:rPr lang="en-US" b="true" sz="3016">
                <a:solidFill>
                  <a:srgbClr val="728F82"/>
                </a:solidFill>
                <a:latin typeface="TT Commons Pro Bold"/>
                <a:ea typeface="TT Commons Pro Bold"/>
                <a:cs typeface="TT Commons Pro Bold"/>
                <a:sym typeface="TT Commons Pro Bold"/>
              </a:rPr>
              <a:t> </a:t>
            </a:r>
            <a:r>
              <a:rPr lang="en-US" b="true" sz="3016">
                <a:solidFill>
                  <a:srgbClr val="728F82"/>
                </a:solidFill>
                <a:latin typeface="TT Commons Pro Bold"/>
                <a:ea typeface="TT Commons Pro Bold"/>
                <a:cs typeface="TT Commons Pro Bold"/>
                <a:sym typeface="TT Commons Pro Bold"/>
              </a:rPr>
              <a:t>To create a model of a one server queue in real time by using arrival and service information.</a:t>
            </a:r>
          </a:p>
          <a:p>
            <a:pPr algn="l">
              <a:lnSpc>
                <a:spcPts val="4223"/>
              </a:lnSpc>
              <a:spcBef>
                <a:spcPct val="0"/>
              </a:spcBef>
            </a:pPr>
          </a:p>
          <a:p>
            <a:pPr algn="l">
              <a:lnSpc>
                <a:spcPts val="4223"/>
              </a:lnSpc>
              <a:spcBef>
                <a:spcPct val="0"/>
              </a:spcBef>
            </a:pPr>
            <a:r>
              <a:rPr lang="en-US" b="true" sz="3016">
                <a:solidFill>
                  <a:srgbClr val="728F82"/>
                </a:solidFill>
                <a:latin typeface="TT Commons Pro Bold"/>
                <a:ea typeface="TT Commons Pro Bold"/>
                <a:cs typeface="TT Commons Pro Bold"/>
                <a:sym typeface="TT Commons Pro Bold"/>
              </a:rPr>
              <a:t>•</a:t>
            </a:r>
            <a:r>
              <a:rPr lang="en-US" b="true" sz="3016" i="true">
                <a:solidFill>
                  <a:srgbClr val="728F82"/>
                </a:solidFill>
                <a:latin typeface="TT Commons Pro Bold Italics"/>
                <a:ea typeface="TT Commons Pro Bold Italics"/>
                <a:cs typeface="TT Commons Pro Bold Italics"/>
                <a:sym typeface="TT Commons Pro Bold Italics"/>
              </a:rPr>
              <a:t> </a:t>
            </a:r>
            <a:r>
              <a:rPr lang="en-US" b="true" sz="3016">
                <a:solidFill>
                  <a:srgbClr val="728F82"/>
                </a:solidFill>
                <a:latin typeface="TT Commons Pro Bold"/>
                <a:ea typeface="TT Commons Pro Bold"/>
                <a:cs typeface="TT Commons Pro Bold"/>
                <a:sym typeface="TT Commons Pro Bold"/>
              </a:rPr>
              <a:t>To study how customers flow through the system based on FIFO (First In-First Out) processing method.</a:t>
            </a:r>
          </a:p>
          <a:p>
            <a:pPr algn="l">
              <a:lnSpc>
                <a:spcPts val="4223"/>
              </a:lnSpc>
              <a:spcBef>
                <a:spcPct val="0"/>
              </a:spcBef>
            </a:pPr>
          </a:p>
          <a:p>
            <a:pPr algn="l">
              <a:lnSpc>
                <a:spcPts val="4223"/>
              </a:lnSpc>
              <a:spcBef>
                <a:spcPct val="0"/>
              </a:spcBef>
            </a:pPr>
            <a:r>
              <a:rPr lang="en-US" b="true" sz="3016">
                <a:solidFill>
                  <a:srgbClr val="728F82"/>
                </a:solidFill>
                <a:latin typeface="TT Commons Pro Bold"/>
                <a:ea typeface="TT Commons Pro Bold"/>
                <a:cs typeface="TT Commons Pro Bold"/>
                <a:sym typeface="TT Commons Pro Bold"/>
              </a:rPr>
              <a:t>•To obtain key performance measures, such as waiting time for service, service time, and total time in the system.</a:t>
            </a:r>
          </a:p>
          <a:p>
            <a:pPr algn="l">
              <a:lnSpc>
                <a:spcPts val="4223"/>
              </a:lnSpc>
              <a:spcBef>
                <a:spcPct val="0"/>
              </a:spcBef>
            </a:pPr>
          </a:p>
          <a:p>
            <a:pPr algn="l">
              <a:lnSpc>
                <a:spcPts val="4223"/>
              </a:lnSpc>
              <a:spcBef>
                <a:spcPct val="0"/>
              </a:spcBef>
            </a:pPr>
            <a:r>
              <a:rPr lang="en-US" b="true" sz="3016">
                <a:solidFill>
                  <a:srgbClr val="728F82"/>
                </a:solidFill>
                <a:latin typeface="TT Commons Pro Bold"/>
                <a:ea typeface="TT Commons Pro Bold"/>
                <a:cs typeface="TT Commons Pro Bold"/>
                <a:sym typeface="TT Commons Pro Bold"/>
              </a:rPr>
              <a:t>•Identify any delays, idle time, and bottlenecks present in the system.</a:t>
            </a:r>
          </a:p>
          <a:p>
            <a:pPr algn="l">
              <a:lnSpc>
                <a:spcPts val="4223"/>
              </a:lnSpc>
              <a:spcBef>
                <a:spcPct val="0"/>
              </a:spcBef>
            </a:pPr>
          </a:p>
          <a:p>
            <a:pPr algn="l">
              <a:lnSpc>
                <a:spcPts val="4223"/>
              </a:lnSpc>
              <a:spcBef>
                <a:spcPct val="0"/>
              </a:spcBef>
            </a:pPr>
            <a:r>
              <a:rPr lang="en-US" b="true" sz="3016">
                <a:solidFill>
                  <a:srgbClr val="728F82"/>
                </a:solidFill>
                <a:latin typeface="TT Commons Pro Bold"/>
                <a:ea typeface="TT Commons Pro Bold"/>
                <a:cs typeface="TT Commons Pro Bold"/>
                <a:sym typeface="TT Commons Pro Bold"/>
              </a:rPr>
              <a:t>•To analyze and improve the overall efficiency of the service.</a:t>
            </a:r>
          </a:p>
        </p:txBody>
      </p:sp>
      <p:sp>
        <p:nvSpPr>
          <p:cNvPr name="AutoShape 9" id="9"/>
          <p:cNvSpPr/>
          <p:nvPr/>
        </p:nvSpPr>
        <p:spPr>
          <a:xfrm>
            <a:off x="690878" y="4116090"/>
            <a:ext cx="16963102" cy="51969"/>
          </a:xfrm>
          <a:prstGeom prst="line">
            <a:avLst/>
          </a:prstGeom>
          <a:ln cap="flat" w="9525">
            <a:solidFill>
              <a:srgbClr val="000000"/>
            </a:solidFill>
            <a:prstDash val="solid"/>
            <a:headEnd type="none" len="sm" w="sm"/>
            <a:tailEnd type="none" len="sm" w="sm"/>
          </a:ln>
        </p:spPr>
      </p:sp>
      <p:sp>
        <p:nvSpPr>
          <p:cNvPr name="AutoShape 10" id="10"/>
          <p:cNvSpPr/>
          <p:nvPr/>
        </p:nvSpPr>
        <p:spPr>
          <a:xfrm>
            <a:off x="671930" y="5756929"/>
            <a:ext cx="16944140" cy="0"/>
          </a:xfrm>
          <a:prstGeom prst="line">
            <a:avLst/>
          </a:prstGeom>
          <a:ln cap="flat" w="9525">
            <a:solidFill>
              <a:srgbClr val="000000"/>
            </a:solidFill>
            <a:prstDash val="solid"/>
            <a:headEnd type="none" len="sm" w="sm"/>
            <a:tailEnd type="none" len="sm" w="sm"/>
          </a:ln>
        </p:spPr>
      </p:sp>
      <p:sp>
        <p:nvSpPr>
          <p:cNvPr name="AutoShape 11" id="11"/>
          <p:cNvSpPr/>
          <p:nvPr/>
        </p:nvSpPr>
        <p:spPr>
          <a:xfrm>
            <a:off x="671930" y="7517739"/>
            <a:ext cx="16963102" cy="0"/>
          </a:xfrm>
          <a:prstGeom prst="line">
            <a:avLst/>
          </a:prstGeom>
          <a:ln cap="flat" w="9525">
            <a:solidFill>
              <a:srgbClr val="000000"/>
            </a:solidFill>
            <a:prstDash val="solid"/>
            <a:headEnd type="none" len="sm" w="sm"/>
            <a:tailEnd type="none" len="sm" w="sm"/>
          </a:ln>
        </p:spPr>
      </p:sp>
      <p:sp>
        <p:nvSpPr>
          <p:cNvPr name="AutoShape 12" id="12"/>
          <p:cNvSpPr/>
          <p:nvPr/>
        </p:nvSpPr>
        <p:spPr>
          <a:xfrm>
            <a:off x="671930" y="8832189"/>
            <a:ext cx="16982064" cy="0"/>
          </a:xfrm>
          <a:prstGeom prst="line">
            <a:avLst/>
          </a:prstGeom>
          <a:ln cap="flat" w="9525">
            <a:solidFill>
              <a:srgbClr val="000000"/>
            </a:solidFill>
            <a:prstDash val="solid"/>
            <a:headEnd type="none" len="sm" w="sm"/>
            <a:tailEnd type="none" len="sm" w="sm"/>
          </a:ln>
        </p:spPr>
      </p:sp>
      <p:sp>
        <p:nvSpPr>
          <p:cNvPr name="Freeform 13" id="13"/>
          <p:cNvSpPr/>
          <p:nvPr/>
        </p:nvSpPr>
        <p:spPr>
          <a:xfrm flipH="false" flipV="false" rot="-5400000">
            <a:off x="697022" y="-1560224"/>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3224003" y="1086898"/>
            <a:ext cx="11467098" cy="1236510"/>
          </a:xfrm>
          <a:prstGeom prst="rect">
            <a:avLst/>
          </a:prstGeom>
        </p:spPr>
        <p:txBody>
          <a:bodyPr anchor="t" rtlCol="false" tIns="0" lIns="0" bIns="0" rIns="0">
            <a:spAutoFit/>
          </a:bodyPr>
          <a:lstStyle/>
          <a:p>
            <a:pPr algn="ctr">
              <a:lnSpc>
                <a:spcPts val="8861"/>
              </a:lnSpc>
            </a:pPr>
            <a:r>
              <a:rPr lang="en-US" b="true" sz="10185" u="sng">
                <a:solidFill>
                  <a:srgbClr val="728F82"/>
                </a:solidFill>
                <a:latin typeface="Inria Serif Bold"/>
                <a:ea typeface="Inria Serif Bold"/>
                <a:cs typeface="Inria Serif Bold"/>
                <a:sym typeface="Inria Serif Bold"/>
              </a:rPr>
              <a:t>Variables selected</a:t>
            </a:r>
          </a:p>
        </p:txBody>
      </p:sp>
      <p:sp>
        <p:nvSpPr>
          <p:cNvPr name="Freeform 3" id="3"/>
          <p:cNvSpPr/>
          <p:nvPr/>
        </p:nvSpPr>
        <p:spPr>
          <a:xfrm flipH="false" flipV="false" rot="-5400000">
            <a:off x="70901" y="7147216"/>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91101" y="-825738"/>
            <a:ext cx="2770685" cy="2674971"/>
          </a:xfrm>
          <a:custGeom>
            <a:avLst/>
            <a:gdLst/>
            <a:ahLst/>
            <a:cxnLst/>
            <a:rect r="r" b="b" t="t" l="l"/>
            <a:pathLst>
              <a:path h="2674971" w="2770685">
                <a:moveTo>
                  <a:pt x="0" y="0"/>
                </a:moveTo>
                <a:lnTo>
                  <a:pt x="2770686" y="0"/>
                </a:lnTo>
                <a:lnTo>
                  <a:pt x="2770686" y="2674971"/>
                </a:lnTo>
                <a:lnTo>
                  <a:pt x="0" y="2674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745001">
            <a:off x="16580403" y="6003186"/>
            <a:ext cx="1762766" cy="4114800"/>
          </a:xfrm>
          <a:custGeom>
            <a:avLst/>
            <a:gdLst/>
            <a:ahLst/>
            <a:cxnLst/>
            <a:rect r="r" b="b" t="t" l="l"/>
            <a:pathLst>
              <a:path h="4114800" w="1762766">
                <a:moveTo>
                  <a:pt x="1762767" y="4114800"/>
                </a:moveTo>
                <a:lnTo>
                  <a:pt x="0" y="4114800"/>
                </a:lnTo>
                <a:lnTo>
                  <a:pt x="0" y="0"/>
                </a:lnTo>
                <a:lnTo>
                  <a:pt x="1762767" y="0"/>
                </a:lnTo>
                <a:lnTo>
                  <a:pt x="1762767"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745001">
            <a:off x="147317" y="31948"/>
            <a:ext cx="1762766" cy="4114800"/>
          </a:xfrm>
          <a:custGeom>
            <a:avLst/>
            <a:gdLst/>
            <a:ahLst/>
            <a:cxnLst/>
            <a:rect r="r" b="b" t="t" l="l"/>
            <a:pathLst>
              <a:path h="4114800" w="1762766">
                <a:moveTo>
                  <a:pt x="0" y="0"/>
                </a:moveTo>
                <a:lnTo>
                  <a:pt x="1762766" y="0"/>
                </a:lnTo>
                <a:lnTo>
                  <a:pt x="176276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028700" y="2394112"/>
            <a:ext cx="24163455" cy="7617967"/>
          </a:xfrm>
          <a:prstGeom prst="rect">
            <a:avLst/>
          </a:prstGeom>
        </p:spPr>
        <p:txBody>
          <a:bodyPr anchor="t" rtlCol="false" tIns="0" lIns="0" bIns="0" rIns="0">
            <a:spAutoFit/>
          </a:bodyPr>
          <a:lstStyle/>
          <a:p>
            <a:pPr algn="l">
              <a:lnSpc>
                <a:spcPts val="10087"/>
              </a:lnSpc>
              <a:spcBef>
                <a:spcPct val="0"/>
              </a:spcBef>
            </a:pPr>
            <a:r>
              <a:rPr lang="en-US" sz="7205">
                <a:solidFill>
                  <a:srgbClr val="728F82"/>
                </a:solidFill>
                <a:latin typeface="Alice"/>
                <a:ea typeface="Alice"/>
                <a:cs typeface="Alice"/>
                <a:sym typeface="Alice"/>
              </a:rPr>
              <a:t>•</a:t>
            </a:r>
            <a:r>
              <a:rPr lang="en-US" sz="7205">
                <a:solidFill>
                  <a:srgbClr val="728F82"/>
                </a:solidFill>
                <a:latin typeface="Alice"/>
                <a:ea typeface="Alice"/>
                <a:cs typeface="Alice"/>
                <a:sym typeface="Alice"/>
              </a:rPr>
              <a:t>Inter-Arrival Time</a:t>
            </a:r>
          </a:p>
          <a:p>
            <a:pPr algn="l">
              <a:lnSpc>
                <a:spcPts val="10087"/>
              </a:lnSpc>
              <a:spcBef>
                <a:spcPct val="0"/>
              </a:spcBef>
            </a:pPr>
            <a:r>
              <a:rPr lang="en-US" sz="7205">
                <a:solidFill>
                  <a:srgbClr val="728F82"/>
                </a:solidFill>
                <a:latin typeface="Alice"/>
                <a:ea typeface="Alice"/>
                <a:cs typeface="Alice"/>
                <a:sym typeface="Alice"/>
              </a:rPr>
              <a:t>•Service Time</a:t>
            </a:r>
          </a:p>
          <a:p>
            <a:pPr algn="l">
              <a:lnSpc>
                <a:spcPts val="10087"/>
              </a:lnSpc>
              <a:spcBef>
                <a:spcPct val="0"/>
              </a:spcBef>
            </a:pPr>
            <a:r>
              <a:rPr lang="en-US" sz="7205">
                <a:solidFill>
                  <a:srgbClr val="728F82"/>
                </a:solidFill>
                <a:latin typeface="Alice"/>
                <a:ea typeface="Alice"/>
                <a:cs typeface="Alice"/>
                <a:sym typeface="Alice"/>
              </a:rPr>
              <a:t>•Waiting Time</a:t>
            </a:r>
          </a:p>
          <a:p>
            <a:pPr algn="l">
              <a:lnSpc>
                <a:spcPts val="10087"/>
              </a:lnSpc>
              <a:spcBef>
                <a:spcPct val="0"/>
              </a:spcBef>
            </a:pPr>
            <a:r>
              <a:rPr lang="en-US" sz="7205">
                <a:solidFill>
                  <a:srgbClr val="728F82"/>
                </a:solidFill>
                <a:latin typeface="Alice"/>
                <a:ea typeface="Alice"/>
                <a:cs typeface="Alice"/>
                <a:sym typeface="Alice"/>
              </a:rPr>
              <a:t>•Idle Time/Serving time</a:t>
            </a:r>
          </a:p>
          <a:p>
            <a:pPr algn="l">
              <a:lnSpc>
                <a:spcPts val="10087"/>
              </a:lnSpc>
              <a:spcBef>
                <a:spcPct val="0"/>
              </a:spcBef>
            </a:pPr>
            <a:r>
              <a:rPr lang="en-US" sz="7205">
                <a:solidFill>
                  <a:srgbClr val="728F82"/>
                </a:solidFill>
                <a:latin typeface="Alice"/>
                <a:ea typeface="Alice"/>
                <a:cs typeface="Alice"/>
                <a:sym typeface="Alice"/>
              </a:rPr>
              <a:t>•Dine-in / Leisure Time</a:t>
            </a:r>
          </a:p>
          <a:p>
            <a:pPr algn="l">
              <a:lnSpc>
                <a:spcPts val="10087"/>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12143" y="-2096909"/>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41117" y="7728513"/>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17370" y="666936"/>
            <a:ext cx="2038963" cy="1968526"/>
          </a:xfrm>
          <a:custGeom>
            <a:avLst/>
            <a:gdLst/>
            <a:ahLst/>
            <a:cxnLst/>
            <a:rect r="r" b="b" t="t" l="l"/>
            <a:pathLst>
              <a:path h="1968526" w="2038963">
                <a:moveTo>
                  <a:pt x="0" y="0"/>
                </a:moveTo>
                <a:lnTo>
                  <a:pt x="2038964" y="0"/>
                </a:lnTo>
                <a:lnTo>
                  <a:pt x="2038964" y="1968526"/>
                </a:lnTo>
                <a:lnTo>
                  <a:pt x="0" y="19685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745001">
            <a:off x="16066212" y="6991354"/>
            <a:ext cx="1250610" cy="2919281"/>
          </a:xfrm>
          <a:custGeom>
            <a:avLst/>
            <a:gdLst/>
            <a:ahLst/>
            <a:cxnLst/>
            <a:rect r="r" b="b" t="t" l="l"/>
            <a:pathLst>
              <a:path h="2919281" w="1250610">
                <a:moveTo>
                  <a:pt x="0" y="0"/>
                </a:moveTo>
                <a:lnTo>
                  <a:pt x="1250610" y="0"/>
                </a:lnTo>
                <a:lnTo>
                  <a:pt x="1250610" y="2919281"/>
                </a:lnTo>
                <a:lnTo>
                  <a:pt x="0" y="29192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3826" y="2093539"/>
            <a:ext cx="18306290" cy="7803056"/>
          </a:xfrm>
          <a:custGeom>
            <a:avLst/>
            <a:gdLst/>
            <a:ahLst/>
            <a:cxnLst/>
            <a:rect r="r" b="b" t="t" l="l"/>
            <a:pathLst>
              <a:path h="7803056" w="18306290">
                <a:moveTo>
                  <a:pt x="0" y="0"/>
                </a:moveTo>
                <a:lnTo>
                  <a:pt x="18306290" y="0"/>
                </a:lnTo>
                <a:lnTo>
                  <a:pt x="18306290" y="7803056"/>
                </a:lnTo>
                <a:lnTo>
                  <a:pt x="0" y="7803056"/>
                </a:lnTo>
                <a:lnTo>
                  <a:pt x="0" y="0"/>
                </a:lnTo>
                <a:close/>
              </a:path>
            </a:pathLst>
          </a:custGeom>
          <a:blipFill>
            <a:blip r:embed="rId8"/>
            <a:stretch>
              <a:fillRect l="0" t="0" r="0" b="0"/>
            </a:stretch>
          </a:blipFill>
        </p:spPr>
      </p:sp>
      <p:sp>
        <p:nvSpPr>
          <p:cNvPr name="TextBox 7" id="7"/>
          <p:cNvSpPr txBox="true"/>
          <p:nvPr/>
        </p:nvSpPr>
        <p:spPr>
          <a:xfrm rot="0">
            <a:off x="3001216" y="5633"/>
            <a:ext cx="11852023" cy="2360460"/>
          </a:xfrm>
          <a:prstGeom prst="rect">
            <a:avLst/>
          </a:prstGeom>
        </p:spPr>
        <p:txBody>
          <a:bodyPr anchor="t" rtlCol="false" tIns="0" lIns="0" bIns="0" rIns="0">
            <a:spAutoFit/>
          </a:bodyPr>
          <a:lstStyle/>
          <a:p>
            <a:pPr algn="ctr">
              <a:lnSpc>
                <a:spcPts val="8861"/>
              </a:lnSpc>
            </a:pPr>
            <a:r>
              <a:rPr lang="en-US" sz="10185" b="true">
                <a:solidFill>
                  <a:srgbClr val="728F82"/>
                </a:solidFill>
                <a:latin typeface="Inria Serif Bold"/>
                <a:ea typeface="Inria Serif Bold"/>
                <a:cs typeface="Inria Serif Bold"/>
                <a:sym typeface="Inria Serif Bold"/>
              </a:rPr>
              <a:t>Data collection table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true" flipV="true" rot="0">
            <a:off x="14918790" y="-1486339"/>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902657" y="2062608"/>
            <a:ext cx="2770685" cy="2674971"/>
          </a:xfrm>
          <a:custGeom>
            <a:avLst/>
            <a:gdLst/>
            <a:ahLst/>
            <a:cxnLst/>
            <a:rect r="r" b="b" t="t" l="l"/>
            <a:pathLst>
              <a:path h="2674971" w="2770685">
                <a:moveTo>
                  <a:pt x="0" y="0"/>
                </a:moveTo>
                <a:lnTo>
                  <a:pt x="2770686" y="0"/>
                </a:lnTo>
                <a:lnTo>
                  <a:pt x="2770686" y="2674971"/>
                </a:lnTo>
                <a:lnTo>
                  <a:pt x="0" y="2674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85343" y="7796751"/>
            <a:ext cx="2770685" cy="2674971"/>
          </a:xfrm>
          <a:custGeom>
            <a:avLst/>
            <a:gdLst/>
            <a:ahLst/>
            <a:cxnLst/>
            <a:rect r="r" b="b" t="t" l="l"/>
            <a:pathLst>
              <a:path h="2674971" w="2770685">
                <a:moveTo>
                  <a:pt x="0" y="0"/>
                </a:moveTo>
                <a:lnTo>
                  <a:pt x="2770686" y="0"/>
                </a:lnTo>
                <a:lnTo>
                  <a:pt x="2770686" y="2674971"/>
                </a:lnTo>
                <a:lnTo>
                  <a:pt x="0" y="2674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745001">
            <a:off x="32739" y="3469217"/>
            <a:ext cx="1409437" cy="3290028"/>
          </a:xfrm>
          <a:custGeom>
            <a:avLst/>
            <a:gdLst/>
            <a:ahLst/>
            <a:cxnLst/>
            <a:rect r="r" b="b" t="t" l="l"/>
            <a:pathLst>
              <a:path h="3290028" w="1409437">
                <a:moveTo>
                  <a:pt x="0" y="0"/>
                </a:moveTo>
                <a:lnTo>
                  <a:pt x="1409437" y="0"/>
                </a:lnTo>
                <a:lnTo>
                  <a:pt x="1409437" y="3290029"/>
                </a:lnTo>
                <a:lnTo>
                  <a:pt x="0" y="32900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7048909" y="7967749"/>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17754" y="-293812"/>
            <a:ext cx="2770685" cy="2674971"/>
          </a:xfrm>
          <a:custGeom>
            <a:avLst/>
            <a:gdLst/>
            <a:ahLst/>
            <a:cxnLst/>
            <a:rect r="r" b="b" t="t" l="l"/>
            <a:pathLst>
              <a:path h="2674971" w="2770685">
                <a:moveTo>
                  <a:pt x="0" y="0"/>
                </a:moveTo>
                <a:lnTo>
                  <a:pt x="2770686" y="0"/>
                </a:lnTo>
                <a:lnTo>
                  <a:pt x="2770686" y="2674971"/>
                </a:lnTo>
                <a:lnTo>
                  <a:pt x="0" y="2674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8" id="8"/>
          <p:cNvGraphicFramePr/>
          <p:nvPr/>
        </p:nvGraphicFramePr>
        <p:xfrm>
          <a:off x="0" y="2062608"/>
          <a:ext cx="9429750" cy="3771900"/>
        </p:xfrm>
        <a:graphic>
          <a:graphicData uri="http://schemas.openxmlformats.org/presentationml/2006/ole">
            <p:oleObj imgW="11315700" imgH="56515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graphicFrame>
        <p:nvGraphicFramePr>
          <p:cNvPr name="Object 9" id="9"/>
          <p:cNvGraphicFramePr/>
          <p:nvPr/>
        </p:nvGraphicFramePr>
        <p:xfrm>
          <a:off x="12235419" y="2062608"/>
          <a:ext cx="9429750" cy="5029200"/>
        </p:xfrm>
        <a:graphic>
          <a:graphicData uri="http://schemas.openxmlformats.org/presentationml/2006/ole">
            <p:oleObj imgW="11315700" imgH="6908800" r:id="rId13" progId="Excel.Sheet.12" name="Worksheet">
              <p:embed/>
              <p:pic>
                <p:nvPicPr>
                  <p:cNvPr name="" id="0"/>
                  <p:cNvPicPr/>
                  <p:nvPr/>
                </p:nvPicPr>
                <p:blipFill>
                  <a:blip r:embed="rId12"/>
                  <a:stretch>
                    <a:fillRect/>
                  </a:stretch>
                </p:blipFill>
                <p:spPr>
                  <a:xfrm>
                    <a:off x="1270000" y="1270000"/>
                    <a:ext cx="1270000" cy="1270000"/>
                  </a:xfrm>
                  <a:prstGeom prst="rect"/>
                </p:spPr>
              </p:pic>
            </p:oleObj>
          </a:graphicData>
        </a:graphic>
      </p:graphicFrame>
      <p:graphicFrame>
        <p:nvGraphicFramePr>
          <p:cNvPr name="Object 10" id="10"/>
          <p:cNvGraphicFramePr/>
          <p:nvPr/>
        </p:nvGraphicFramePr>
        <p:xfrm>
          <a:off x="0" y="5918917"/>
          <a:ext cx="9429750" cy="5029200"/>
        </p:xfrm>
        <a:graphic>
          <a:graphicData uri="http://schemas.openxmlformats.org/presentationml/2006/ole">
            <p:oleObj imgW="11315700" imgH="6908800" r:id="rId15" progId="Excel.Sheet.12" name="Worksheet">
              <p:embed/>
              <p:pic>
                <p:nvPicPr>
                  <p:cNvPr name="" id="0"/>
                  <p:cNvPicPr/>
                  <p:nvPr/>
                </p:nvPicPr>
                <p:blipFill>
                  <a:blip r:embed="rId14"/>
                  <a:stretch>
                    <a:fillRect/>
                  </a:stretch>
                </p:blipFill>
                <p:spPr>
                  <a:xfrm>
                    <a:off x="1270000" y="1270000"/>
                    <a:ext cx="1270000" cy="1270000"/>
                  </a:xfrm>
                  <a:prstGeom prst="rect"/>
                </p:spPr>
              </p:pic>
            </p:oleObj>
          </a:graphicData>
        </a:graphic>
      </p:graphicFrame>
      <p:graphicFrame>
        <p:nvGraphicFramePr>
          <p:cNvPr name="Object 11" id="11"/>
          <p:cNvGraphicFramePr/>
          <p:nvPr/>
        </p:nvGraphicFramePr>
        <p:xfrm>
          <a:off x="6298868" y="2062608"/>
          <a:ext cx="9429750" cy="5029200"/>
        </p:xfrm>
        <a:graphic>
          <a:graphicData uri="http://schemas.openxmlformats.org/presentationml/2006/ole">
            <p:oleObj imgW="11315700" imgH="6908800" r:id="rId17" progId="Excel.Sheet.12" name="Worksheet">
              <p:embed/>
              <p:pic>
                <p:nvPicPr>
                  <p:cNvPr name="" id="0"/>
                  <p:cNvPicPr/>
                  <p:nvPr/>
                </p:nvPicPr>
                <p:blipFill>
                  <a:blip r:embed="rId16"/>
                  <a:stretch>
                    <a:fillRect/>
                  </a:stretch>
                </p:blipFill>
                <p:spPr>
                  <a:xfrm>
                    <a:off x="1270000" y="1270000"/>
                    <a:ext cx="1270000" cy="1270000"/>
                  </a:xfrm>
                  <a:prstGeom prst="rect"/>
                </p:spPr>
              </p:pic>
            </p:oleObj>
          </a:graphicData>
        </a:graphic>
      </p:graphicFrame>
      <p:graphicFrame>
        <p:nvGraphicFramePr>
          <p:cNvPr name="Object 12" id="12"/>
          <p:cNvGraphicFramePr/>
          <p:nvPr/>
        </p:nvGraphicFramePr>
        <p:xfrm>
          <a:off x="8752388" y="5918917"/>
          <a:ext cx="9429750" cy="5657850"/>
        </p:xfrm>
        <a:graphic>
          <a:graphicData uri="http://schemas.openxmlformats.org/presentationml/2006/ole">
            <p:oleObj imgW="11315700" imgH="7543800" r:id="rId19" progId="Excel.Sheet.12" name="Worksheet">
              <p:embed/>
              <p:pic>
                <p:nvPicPr>
                  <p:cNvPr name="" id="0"/>
                  <p:cNvPicPr/>
                  <p:nvPr/>
                </p:nvPicPr>
                <p:blipFill>
                  <a:blip r:embed="rId18"/>
                  <a:stretch>
                    <a:fillRect/>
                  </a:stretch>
                </p:blipFill>
                <p:spPr>
                  <a:xfrm>
                    <a:off x="1270000" y="1270000"/>
                    <a:ext cx="1270000" cy="1270000"/>
                  </a:xfrm>
                  <a:prstGeom prst="rect"/>
                </p:spPr>
              </p:pic>
            </p:oleObj>
          </a:graphicData>
        </a:graphic>
      </p:graphicFrame>
      <p:sp>
        <p:nvSpPr>
          <p:cNvPr name="TextBox 13" id="13"/>
          <p:cNvSpPr txBox="true"/>
          <p:nvPr/>
        </p:nvSpPr>
        <p:spPr>
          <a:xfrm rot="0">
            <a:off x="2730961" y="408333"/>
            <a:ext cx="12730828" cy="1137331"/>
          </a:xfrm>
          <a:prstGeom prst="rect">
            <a:avLst/>
          </a:prstGeom>
        </p:spPr>
        <p:txBody>
          <a:bodyPr anchor="t" rtlCol="false" tIns="0" lIns="0" bIns="0" rIns="0">
            <a:spAutoFit/>
          </a:bodyPr>
          <a:lstStyle/>
          <a:p>
            <a:pPr algn="ctr">
              <a:lnSpc>
                <a:spcPts val="9237"/>
              </a:lnSpc>
              <a:spcBef>
                <a:spcPct val="0"/>
              </a:spcBef>
            </a:pPr>
            <a:r>
              <a:rPr lang="en-US" b="true" sz="6598">
                <a:solidFill>
                  <a:srgbClr val="728F82"/>
                </a:solidFill>
                <a:latin typeface="Inria Serif Bold"/>
                <a:ea typeface="Inria Serif Bold"/>
                <a:cs typeface="Inria Serif Bold"/>
                <a:sym typeface="Inria Serif Bold"/>
              </a:rPr>
              <a:t>Range Tables for Each Variable</a:t>
            </a:r>
          </a:p>
        </p:txBody>
      </p:sp>
      <p:sp>
        <p:nvSpPr>
          <p:cNvPr name="AutoShape 14" id="14"/>
          <p:cNvSpPr/>
          <p:nvPr/>
        </p:nvSpPr>
        <p:spPr>
          <a:xfrm>
            <a:off x="6267283" y="2228753"/>
            <a:ext cx="0" cy="3934707"/>
          </a:xfrm>
          <a:prstGeom prst="line">
            <a:avLst/>
          </a:prstGeom>
          <a:ln cap="flat" w="161925">
            <a:solidFill>
              <a:srgbClr val="000000"/>
            </a:solidFill>
            <a:prstDash val="solid"/>
            <a:headEnd type="none" len="sm" w="sm"/>
            <a:tailEnd type="none" len="sm" w="sm"/>
          </a:ln>
        </p:spPr>
      </p:sp>
      <p:sp>
        <p:nvSpPr>
          <p:cNvPr name="AutoShape 15" id="15"/>
          <p:cNvSpPr/>
          <p:nvPr/>
        </p:nvSpPr>
        <p:spPr>
          <a:xfrm>
            <a:off x="12235419" y="2062608"/>
            <a:ext cx="0" cy="4125304"/>
          </a:xfrm>
          <a:prstGeom prst="line">
            <a:avLst/>
          </a:prstGeom>
          <a:ln cap="flat" w="161925">
            <a:solidFill>
              <a:srgbClr val="000000"/>
            </a:solidFill>
            <a:prstDash val="solid"/>
            <a:headEnd type="none" len="sm" w="sm"/>
            <a:tailEnd type="none" len="sm" w="sm"/>
          </a:ln>
        </p:spPr>
      </p:sp>
      <p:sp>
        <p:nvSpPr>
          <p:cNvPr name="AutoShape 16" id="16"/>
          <p:cNvSpPr/>
          <p:nvPr/>
        </p:nvSpPr>
        <p:spPr>
          <a:xfrm>
            <a:off x="8752388" y="6094113"/>
            <a:ext cx="80962" cy="3634955"/>
          </a:xfrm>
          <a:prstGeom prst="line">
            <a:avLst/>
          </a:prstGeom>
          <a:ln cap="flat" w="161925">
            <a:solidFill>
              <a:srgbClr val="00000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61851" y="246908"/>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7939949" y="-102870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028700" y="8229600"/>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502819" y="245404"/>
            <a:ext cx="16756481" cy="885103"/>
          </a:xfrm>
          <a:prstGeom prst="rect">
            <a:avLst/>
          </a:prstGeom>
        </p:spPr>
        <p:txBody>
          <a:bodyPr anchor="t" rtlCol="false" tIns="0" lIns="0" bIns="0" rIns="0">
            <a:spAutoFit/>
          </a:bodyPr>
          <a:lstStyle/>
          <a:p>
            <a:pPr algn="ctr">
              <a:lnSpc>
                <a:spcPts val="6312"/>
              </a:lnSpc>
            </a:pPr>
            <a:r>
              <a:rPr lang="en-US" sz="7255" b="true">
                <a:solidFill>
                  <a:srgbClr val="728F82"/>
                </a:solidFill>
                <a:latin typeface="Inria Serif Bold"/>
                <a:ea typeface="Inria Serif Bold"/>
                <a:cs typeface="Inria Serif Bold"/>
                <a:sym typeface="Inria Serif Bold"/>
              </a:rPr>
              <a:t>INFERENCES FROM SIMULATION</a:t>
            </a:r>
          </a:p>
        </p:txBody>
      </p:sp>
      <p:sp>
        <p:nvSpPr>
          <p:cNvPr name="TextBox 6" id="6"/>
          <p:cNvSpPr txBox="true"/>
          <p:nvPr/>
        </p:nvSpPr>
        <p:spPr>
          <a:xfrm rot="0">
            <a:off x="0" y="1451733"/>
            <a:ext cx="17613207" cy="8833443"/>
          </a:xfrm>
          <a:prstGeom prst="rect">
            <a:avLst/>
          </a:prstGeom>
        </p:spPr>
        <p:txBody>
          <a:bodyPr anchor="t" rtlCol="false" tIns="0" lIns="0" bIns="0" rIns="0">
            <a:spAutoFit/>
          </a:bodyPr>
          <a:lstStyle/>
          <a:p>
            <a:pPr algn="l">
              <a:lnSpc>
                <a:spcPts val="4706"/>
              </a:lnSpc>
              <a:spcBef>
                <a:spcPct val="0"/>
              </a:spcBef>
            </a:pPr>
            <a:r>
              <a:rPr lang="en-US" sz="3361">
                <a:solidFill>
                  <a:srgbClr val="728F82"/>
                </a:solidFill>
                <a:latin typeface="Alice"/>
                <a:ea typeface="Alice"/>
                <a:cs typeface="Alice"/>
                <a:sym typeface="Alice"/>
              </a:rPr>
              <a:t>•</a:t>
            </a:r>
            <a:r>
              <a:rPr lang="en-US" sz="3361">
                <a:solidFill>
                  <a:srgbClr val="728F82"/>
                </a:solidFill>
                <a:latin typeface="Alice"/>
                <a:ea typeface="Alice"/>
                <a:cs typeface="Alice"/>
                <a:sym typeface="Alice"/>
              </a:rPr>
              <a:t>More than half of all customers do not wait for their service because the server is able to meet demand effectively between peak hours.</a:t>
            </a:r>
          </a:p>
          <a:p>
            <a:pPr algn="l">
              <a:lnSpc>
                <a:spcPts val="4706"/>
              </a:lnSpc>
              <a:spcBef>
                <a:spcPct val="0"/>
              </a:spcBef>
            </a:pPr>
          </a:p>
          <a:p>
            <a:pPr algn="l">
              <a:lnSpc>
                <a:spcPts val="4706"/>
              </a:lnSpc>
              <a:spcBef>
                <a:spcPct val="0"/>
              </a:spcBef>
            </a:pPr>
            <a:r>
              <a:rPr lang="en-US" sz="3361">
                <a:solidFill>
                  <a:srgbClr val="728F82"/>
                </a:solidFill>
                <a:latin typeface="Alice"/>
                <a:ea typeface="Alice"/>
                <a:cs typeface="Alice"/>
                <a:sym typeface="Alice"/>
              </a:rPr>
              <a:t>•Service times are mostly between one and two minutes (54% of all cases) which reflects a very rapid, high volume service.</a:t>
            </a:r>
          </a:p>
          <a:p>
            <a:pPr algn="l">
              <a:lnSpc>
                <a:spcPts val="4706"/>
              </a:lnSpc>
              <a:spcBef>
                <a:spcPct val="0"/>
              </a:spcBef>
            </a:pPr>
          </a:p>
          <a:p>
            <a:pPr algn="l">
              <a:lnSpc>
                <a:spcPts val="4706"/>
              </a:lnSpc>
              <a:spcBef>
                <a:spcPct val="0"/>
              </a:spcBef>
            </a:pPr>
            <a:r>
              <a:rPr lang="en-US" sz="3361">
                <a:solidFill>
                  <a:srgbClr val="728F82"/>
                </a:solidFill>
                <a:latin typeface="Alice"/>
                <a:ea typeface="Alice"/>
                <a:cs typeface="Alice"/>
                <a:sym typeface="Alice"/>
              </a:rPr>
              <a:t>•In addition, 44% of the time, servers are idle, which indicates a near-constant demand on the system, with little downtime.</a:t>
            </a:r>
          </a:p>
          <a:p>
            <a:pPr algn="l">
              <a:lnSpc>
                <a:spcPts val="4706"/>
              </a:lnSpc>
              <a:spcBef>
                <a:spcPct val="0"/>
              </a:spcBef>
            </a:pPr>
          </a:p>
          <a:p>
            <a:pPr algn="l">
              <a:lnSpc>
                <a:spcPts val="4706"/>
              </a:lnSpc>
              <a:spcBef>
                <a:spcPct val="0"/>
              </a:spcBef>
            </a:pPr>
            <a:r>
              <a:rPr lang="en-US" sz="3361">
                <a:solidFill>
                  <a:srgbClr val="728F82"/>
                </a:solidFill>
                <a:latin typeface="Alice"/>
                <a:ea typeface="Alice"/>
                <a:cs typeface="Alice"/>
                <a:sym typeface="Alice"/>
              </a:rPr>
              <a:t>•Inter-arrival times are most often four minutes (22%), indicating that customer flow is moderate/steady throughout the business day.</a:t>
            </a:r>
          </a:p>
          <a:p>
            <a:pPr algn="l">
              <a:lnSpc>
                <a:spcPts val="4706"/>
              </a:lnSpc>
              <a:spcBef>
                <a:spcPct val="0"/>
              </a:spcBef>
            </a:pPr>
          </a:p>
          <a:p>
            <a:pPr algn="l">
              <a:lnSpc>
                <a:spcPts val="4706"/>
              </a:lnSpc>
              <a:spcBef>
                <a:spcPct val="0"/>
              </a:spcBef>
            </a:pPr>
            <a:r>
              <a:rPr lang="en-US" sz="3361">
                <a:solidFill>
                  <a:srgbClr val="728F82"/>
                </a:solidFill>
                <a:latin typeface="Alice"/>
                <a:ea typeface="Alice"/>
                <a:cs typeface="Alice"/>
                <a:sym typeface="Alice"/>
              </a:rPr>
              <a:t>•Leisure/dine-in times are spread out fairly evenly over all customers with 69% of all customers being on-site less than 14 minutes; resulting in most customers being there for a short duration.</a:t>
            </a:r>
          </a:p>
        </p:txBody>
      </p:sp>
      <p:sp>
        <p:nvSpPr>
          <p:cNvPr name="AutoShape 7" id="7"/>
          <p:cNvSpPr/>
          <p:nvPr/>
        </p:nvSpPr>
        <p:spPr>
          <a:xfrm>
            <a:off x="-9194" y="3062442"/>
            <a:ext cx="18297194" cy="8715"/>
          </a:xfrm>
          <a:prstGeom prst="line">
            <a:avLst/>
          </a:prstGeom>
          <a:ln cap="flat" w="9525">
            <a:solidFill>
              <a:srgbClr val="000000"/>
            </a:solidFill>
            <a:prstDash val="solid"/>
            <a:headEnd type="none" len="sm" w="sm"/>
            <a:tailEnd type="none" len="sm" w="sm"/>
          </a:ln>
        </p:spPr>
      </p:sp>
      <p:sp>
        <p:nvSpPr>
          <p:cNvPr name="AutoShape 8" id="8"/>
          <p:cNvSpPr/>
          <p:nvPr/>
        </p:nvSpPr>
        <p:spPr>
          <a:xfrm>
            <a:off x="9" y="4675696"/>
            <a:ext cx="18297194" cy="8715"/>
          </a:xfrm>
          <a:prstGeom prst="line">
            <a:avLst/>
          </a:prstGeom>
          <a:ln cap="flat" w="9525">
            <a:solidFill>
              <a:srgbClr val="000000"/>
            </a:solidFill>
            <a:prstDash val="solid"/>
            <a:headEnd type="none" len="sm" w="sm"/>
            <a:tailEnd type="none" len="sm" w="sm"/>
          </a:ln>
        </p:spPr>
      </p:sp>
      <p:sp>
        <p:nvSpPr>
          <p:cNvPr name="AutoShape 9" id="9"/>
          <p:cNvSpPr/>
          <p:nvPr/>
        </p:nvSpPr>
        <p:spPr>
          <a:xfrm>
            <a:off x="-9196" y="6455029"/>
            <a:ext cx="18297194" cy="8715"/>
          </a:xfrm>
          <a:prstGeom prst="line">
            <a:avLst/>
          </a:prstGeom>
          <a:ln cap="flat" w="9525">
            <a:solidFill>
              <a:srgbClr val="000000"/>
            </a:solidFill>
            <a:prstDash val="solid"/>
            <a:headEnd type="none" len="sm" w="sm"/>
            <a:tailEnd type="none" len="sm" w="sm"/>
          </a:ln>
        </p:spPr>
      </p:sp>
      <p:sp>
        <p:nvSpPr>
          <p:cNvPr name="AutoShape 10" id="10"/>
          <p:cNvSpPr/>
          <p:nvPr/>
        </p:nvSpPr>
        <p:spPr>
          <a:xfrm>
            <a:off x="-18401" y="8234362"/>
            <a:ext cx="18297194" cy="8715"/>
          </a:xfrm>
          <a:prstGeom prst="line">
            <a:avLst/>
          </a:prstGeom>
          <a:ln cap="flat" w="9525">
            <a:solidFill>
              <a:srgbClr val="00000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61851" y="246908"/>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7939949" y="-1028700"/>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028700" y="8229600"/>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08220" y="1028700"/>
            <a:ext cx="10225480" cy="6520336"/>
          </a:xfrm>
          <a:custGeom>
            <a:avLst/>
            <a:gdLst/>
            <a:ahLst/>
            <a:cxnLst/>
            <a:rect r="r" b="b" t="t" l="l"/>
            <a:pathLst>
              <a:path h="6520336" w="10225480">
                <a:moveTo>
                  <a:pt x="0" y="0"/>
                </a:moveTo>
                <a:lnTo>
                  <a:pt x="10225480" y="0"/>
                </a:lnTo>
                <a:lnTo>
                  <a:pt x="10225480" y="6520336"/>
                </a:lnTo>
                <a:lnTo>
                  <a:pt x="0" y="6520336"/>
                </a:lnTo>
                <a:lnTo>
                  <a:pt x="0" y="0"/>
                </a:lnTo>
                <a:close/>
              </a:path>
            </a:pathLst>
          </a:custGeom>
          <a:blipFill>
            <a:blip r:embed="rId6"/>
            <a:stretch>
              <a:fillRect l="0" t="-1382" r="0" b="-206116"/>
            </a:stretch>
          </a:blipFill>
        </p:spPr>
      </p:sp>
      <p:sp>
        <p:nvSpPr>
          <p:cNvPr name="Freeform 6" id="6"/>
          <p:cNvSpPr/>
          <p:nvPr/>
        </p:nvSpPr>
        <p:spPr>
          <a:xfrm flipH="false" flipV="false" rot="0">
            <a:off x="502819" y="7155336"/>
            <a:ext cx="9816113" cy="3131664"/>
          </a:xfrm>
          <a:custGeom>
            <a:avLst/>
            <a:gdLst/>
            <a:ahLst/>
            <a:cxnLst/>
            <a:rect r="r" b="b" t="t" l="l"/>
            <a:pathLst>
              <a:path h="3131664" w="9816113">
                <a:moveTo>
                  <a:pt x="0" y="0"/>
                </a:moveTo>
                <a:lnTo>
                  <a:pt x="9816113" y="0"/>
                </a:lnTo>
                <a:lnTo>
                  <a:pt x="9816113" y="3131664"/>
                </a:lnTo>
                <a:lnTo>
                  <a:pt x="0" y="3131664"/>
                </a:lnTo>
                <a:lnTo>
                  <a:pt x="0" y="0"/>
                </a:lnTo>
                <a:close/>
              </a:path>
            </a:pathLst>
          </a:custGeom>
          <a:blipFill>
            <a:blip r:embed="rId6"/>
            <a:stretch>
              <a:fillRect l="0" t="-200855" r="0" b="-313747"/>
            </a:stretch>
          </a:blipFill>
        </p:spPr>
      </p:sp>
      <p:sp>
        <p:nvSpPr>
          <p:cNvPr name="Freeform 7" id="7"/>
          <p:cNvSpPr/>
          <p:nvPr/>
        </p:nvSpPr>
        <p:spPr>
          <a:xfrm flipH="false" flipV="false" rot="0">
            <a:off x="10483687" y="2074831"/>
            <a:ext cx="7804313" cy="7183469"/>
          </a:xfrm>
          <a:custGeom>
            <a:avLst/>
            <a:gdLst/>
            <a:ahLst/>
            <a:cxnLst/>
            <a:rect r="r" b="b" t="t" l="l"/>
            <a:pathLst>
              <a:path h="7183469" w="7804313">
                <a:moveTo>
                  <a:pt x="0" y="0"/>
                </a:moveTo>
                <a:lnTo>
                  <a:pt x="7804313" y="0"/>
                </a:lnTo>
                <a:lnTo>
                  <a:pt x="7804313" y="7183469"/>
                </a:lnTo>
                <a:lnTo>
                  <a:pt x="0" y="7183469"/>
                </a:lnTo>
                <a:lnTo>
                  <a:pt x="0" y="0"/>
                </a:lnTo>
                <a:close/>
              </a:path>
            </a:pathLst>
          </a:custGeom>
          <a:blipFill>
            <a:blip r:embed="rId7"/>
            <a:stretch>
              <a:fillRect l="0" t="-110298" r="0" b="-2726"/>
            </a:stretch>
          </a:blipFill>
        </p:spPr>
      </p:sp>
      <p:sp>
        <p:nvSpPr>
          <p:cNvPr name="TextBox 8" id="8"/>
          <p:cNvSpPr txBox="true"/>
          <p:nvPr/>
        </p:nvSpPr>
        <p:spPr>
          <a:xfrm rot="0">
            <a:off x="502819" y="245404"/>
            <a:ext cx="16756481" cy="885103"/>
          </a:xfrm>
          <a:prstGeom prst="rect">
            <a:avLst/>
          </a:prstGeom>
        </p:spPr>
        <p:txBody>
          <a:bodyPr anchor="t" rtlCol="false" tIns="0" lIns="0" bIns="0" rIns="0">
            <a:spAutoFit/>
          </a:bodyPr>
          <a:lstStyle/>
          <a:p>
            <a:pPr algn="ctr">
              <a:lnSpc>
                <a:spcPts val="6312"/>
              </a:lnSpc>
            </a:pPr>
            <a:r>
              <a:rPr lang="en-US" sz="7255" b="true">
                <a:solidFill>
                  <a:srgbClr val="728F82"/>
                </a:solidFill>
                <a:latin typeface="Inria Serif Bold"/>
                <a:ea typeface="Inria Serif Bold"/>
                <a:cs typeface="Inria Serif Bold"/>
                <a:sym typeface="Inria Serif Bold"/>
              </a:rPr>
              <a:t>INFERENCES FROM SIMULATION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TextBox 2" id="2"/>
          <p:cNvSpPr txBox="true"/>
          <p:nvPr/>
        </p:nvSpPr>
        <p:spPr>
          <a:xfrm rot="0">
            <a:off x="4346717" y="680058"/>
            <a:ext cx="9594566" cy="1254415"/>
          </a:xfrm>
          <a:prstGeom prst="rect">
            <a:avLst/>
          </a:prstGeom>
        </p:spPr>
        <p:txBody>
          <a:bodyPr anchor="t" rtlCol="false" tIns="0" lIns="0" bIns="0" rIns="0">
            <a:spAutoFit/>
          </a:bodyPr>
          <a:lstStyle/>
          <a:p>
            <a:pPr algn="ctr">
              <a:lnSpc>
                <a:spcPts val="9035"/>
              </a:lnSpc>
            </a:pPr>
            <a:r>
              <a:rPr lang="en-US" b="true" sz="10385" u="sng">
                <a:solidFill>
                  <a:srgbClr val="728F82"/>
                </a:solidFill>
                <a:latin typeface="Inria Serif Bold"/>
                <a:ea typeface="Inria Serif Bold"/>
                <a:cs typeface="Inria Serif Bold"/>
                <a:sym typeface="Inria Serif Bold"/>
              </a:rPr>
              <a:t>Conclusion</a:t>
            </a:r>
          </a:p>
        </p:txBody>
      </p:sp>
      <p:sp>
        <p:nvSpPr>
          <p:cNvPr name="Freeform 3" id="3"/>
          <p:cNvSpPr/>
          <p:nvPr/>
        </p:nvSpPr>
        <p:spPr>
          <a:xfrm flipH="false" flipV="false" rot="0">
            <a:off x="15423173" y="-2202279"/>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76470" y="7920815"/>
            <a:ext cx="2770685" cy="2674971"/>
          </a:xfrm>
          <a:custGeom>
            <a:avLst/>
            <a:gdLst/>
            <a:ahLst/>
            <a:cxnLst/>
            <a:rect r="r" b="b" t="t" l="l"/>
            <a:pathLst>
              <a:path h="2674971" w="2770685">
                <a:moveTo>
                  <a:pt x="0" y="0"/>
                </a:moveTo>
                <a:lnTo>
                  <a:pt x="2770686" y="0"/>
                </a:lnTo>
                <a:lnTo>
                  <a:pt x="2770686" y="2674970"/>
                </a:lnTo>
                <a:lnTo>
                  <a:pt x="0" y="2674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745001">
            <a:off x="979206" y="476394"/>
            <a:ext cx="1253501" cy="2926030"/>
          </a:xfrm>
          <a:custGeom>
            <a:avLst/>
            <a:gdLst/>
            <a:ahLst/>
            <a:cxnLst/>
            <a:rect r="r" b="b" t="t" l="l"/>
            <a:pathLst>
              <a:path h="2926030" w="1253501">
                <a:moveTo>
                  <a:pt x="0" y="0"/>
                </a:moveTo>
                <a:lnTo>
                  <a:pt x="1253502" y="0"/>
                </a:lnTo>
                <a:lnTo>
                  <a:pt x="1253502" y="2926030"/>
                </a:lnTo>
                <a:lnTo>
                  <a:pt x="0" y="29260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1745001">
            <a:off x="16692485" y="7532090"/>
            <a:ext cx="1133630" cy="2646217"/>
          </a:xfrm>
          <a:custGeom>
            <a:avLst/>
            <a:gdLst/>
            <a:ahLst/>
            <a:cxnLst/>
            <a:rect r="r" b="b" t="t" l="l"/>
            <a:pathLst>
              <a:path h="2646217" w="1133630">
                <a:moveTo>
                  <a:pt x="1133630" y="2646218"/>
                </a:moveTo>
                <a:lnTo>
                  <a:pt x="0" y="2646218"/>
                </a:lnTo>
                <a:lnTo>
                  <a:pt x="0" y="0"/>
                </a:lnTo>
                <a:lnTo>
                  <a:pt x="1133630" y="0"/>
                </a:lnTo>
                <a:lnTo>
                  <a:pt x="1133630" y="264621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14918790" y="-1486339"/>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9139237" y="4584011"/>
            <a:ext cx="9525" cy="365004"/>
          </a:xfrm>
          <a:prstGeom prst="rect">
            <a:avLst/>
          </a:prstGeom>
        </p:spPr>
        <p:txBody>
          <a:bodyPr anchor="t" rtlCol="false" tIns="0" lIns="0" bIns="0" rIns="0">
            <a:spAutoFit/>
          </a:bodyPr>
          <a:lstStyle/>
          <a:p>
            <a:pPr algn="ctr">
              <a:lnSpc>
                <a:spcPts val="2981"/>
              </a:lnSpc>
            </a:pPr>
          </a:p>
        </p:txBody>
      </p:sp>
      <p:sp>
        <p:nvSpPr>
          <p:cNvPr name="TextBox 9" id="9"/>
          <p:cNvSpPr txBox="true"/>
          <p:nvPr/>
        </p:nvSpPr>
        <p:spPr>
          <a:xfrm rot="0">
            <a:off x="4762" y="1863209"/>
            <a:ext cx="18283238" cy="7830968"/>
          </a:xfrm>
          <a:prstGeom prst="rect">
            <a:avLst/>
          </a:prstGeom>
        </p:spPr>
        <p:txBody>
          <a:bodyPr anchor="t" rtlCol="false" tIns="0" lIns="0" bIns="0" rIns="0">
            <a:spAutoFit/>
          </a:bodyPr>
          <a:lstStyle/>
          <a:p>
            <a:pPr algn="ctr">
              <a:lnSpc>
                <a:spcPts val="5696"/>
              </a:lnSpc>
              <a:spcBef>
                <a:spcPct val="0"/>
              </a:spcBef>
            </a:pPr>
            <a:r>
              <a:rPr lang="en-US" b="true" sz="4069">
                <a:solidFill>
                  <a:srgbClr val="728F82"/>
                </a:solidFill>
                <a:latin typeface="Inria Serif Bold"/>
                <a:ea typeface="Inria Serif Bold"/>
                <a:cs typeface="Inria Serif Bold"/>
                <a:sym typeface="Inria Serif Bold"/>
              </a:rPr>
              <a:t>According to the Monte Carlo simulation, the canteen operates smoothly and serves the customers quickly, and waits are a rare occurrence (54% of customers do not encounter a wait). In fact, most customers finish their transactions between 1 and 2 minutes of ordering. However, during busy times, long lines form causing many customers to wait; and since there is only one server on duty, no time to recover from a long wait is available for the server to serve another customer immediately after the first customer has finished their transaction, resulting in longer than usual wait times. Adding one additional server during rush periods would dramatically reduce the time spent waiting in line and improve the overall experience of using the stall.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false" rot="0">
            <a:off x="-1788099" y="7728513"/>
            <a:ext cx="5116974" cy="5116974"/>
          </a:xfrm>
          <a:custGeom>
            <a:avLst/>
            <a:gdLst/>
            <a:ahLst/>
            <a:cxnLst/>
            <a:rect r="r" b="b" t="t" l="l"/>
            <a:pathLst>
              <a:path h="5116974" w="5116974">
                <a:moveTo>
                  <a:pt x="0" y="0"/>
                </a:moveTo>
                <a:lnTo>
                  <a:pt x="5116974" y="0"/>
                </a:lnTo>
                <a:lnTo>
                  <a:pt x="5116974" y="5116974"/>
                </a:lnTo>
                <a:lnTo>
                  <a:pt x="0" y="51169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492451" y="2903164"/>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56643" y="-185928"/>
            <a:ext cx="2770685" cy="2674971"/>
          </a:xfrm>
          <a:custGeom>
            <a:avLst/>
            <a:gdLst/>
            <a:ahLst/>
            <a:cxnLst/>
            <a:rect r="r" b="b" t="t" l="l"/>
            <a:pathLst>
              <a:path h="2674971" w="2770685">
                <a:moveTo>
                  <a:pt x="0" y="0"/>
                </a:moveTo>
                <a:lnTo>
                  <a:pt x="2770686" y="0"/>
                </a:lnTo>
                <a:lnTo>
                  <a:pt x="2770686" y="2674971"/>
                </a:lnTo>
                <a:lnTo>
                  <a:pt x="0" y="2674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true" rot="1745001">
            <a:off x="16667651" y="7082368"/>
            <a:ext cx="1183297" cy="2762153"/>
          </a:xfrm>
          <a:custGeom>
            <a:avLst/>
            <a:gdLst/>
            <a:ahLst/>
            <a:cxnLst/>
            <a:rect r="r" b="b" t="t" l="l"/>
            <a:pathLst>
              <a:path h="2762153" w="1183297">
                <a:moveTo>
                  <a:pt x="1183298" y="2762154"/>
                </a:moveTo>
                <a:lnTo>
                  <a:pt x="0" y="2762154"/>
                </a:lnTo>
                <a:lnTo>
                  <a:pt x="0" y="0"/>
                </a:lnTo>
                <a:lnTo>
                  <a:pt x="1183298" y="0"/>
                </a:lnTo>
                <a:lnTo>
                  <a:pt x="1183298" y="2762154"/>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668533" y="3031968"/>
            <a:ext cx="7165750" cy="1018413"/>
            <a:chOff x="0" y="0"/>
            <a:chExt cx="1474434" cy="209550"/>
          </a:xfrm>
        </p:grpSpPr>
        <p:sp>
          <p:nvSpPr>
            <p:cNvPr name="Freeform 7" id="7"/>
            <p:cNvSpPr/>
            <p:nvPr/>
          </p:nvSpPr>
          <p:spPr>
            <a:xfrm flipH="false" flipV="false" rot="0">
              <a:off x="0" y="0"/>
              <a:ext cx="1474434" cy="209550"/>
            </a:xfrm>
            <a:custGeom>
              <a:avLst/>
              <a:gdLst/>
              <a:ahLst/>
              <a:cxnLst/>
              <a:rect r="r" b="b" t="t" l="l"/>
              <a:pathLst>
                <a:path h="209550" w="1474434">
                  <a:moveTo>
                    <a:pt x="21102" y="0"/>
                  </a:moveTo>
                  <a:lnTo>
                    <a:pt x="1453332" y="0"/>
                  </a:lnTo>
                  <a:cubicBezTo>
                    <a:pt x="1458929" y="0"/>
                    <a:pt x="1464296" y="2223"/>
                    <a:pt x="1468254" y="6181"/>
                  </a:cubicBezTo>
                  <a:cubicBezTo>
                    <a:pt x="1472211" y="10138"/>
                    <a:pt x="1474434" y="15505"/>
                    <a:pt x="1474434" y="21102"/>
                  </a:cubicBezTo>
                  <a:lnTo>
                    <a:pt x="1474434" y="188448"/>
                  </a:lnTo>
                  <a:cubicBezTo>
                    <a:pt x="1474434" y="200102"/>
                    <a:pt x="1464987" y="209550"/>
                    <a:pt x="1453332" y="209550"/>
                  </a:cubicBezTo>
                  <a:lnTo>
                    <a:pt x="21102" y="209550"/>
                  </a:lnTo>
                  <a:cubicBezTo>
                    <a:pt x="15505" y="209550"/>
                    <a:pt x="10138" y="207327"/>
                    <a:pt x="6181" y="203369"/>
                  </a:cubicBezTo>
                  <a:cubicBezTo>
                    <a:pt x="2223" y="199412"/>
                    <a:pt x="0" y="194045"/>
                    <a:pt x="0" y="188448"/>
                  </a:cubicBezTo>
                  <a:lnTo>
                    <a:pt x="0" y="21102"/>
                  </a:lnTo>
                  <a:cubicBezTo>
                    <a:pt x="0" y="15505"/>
                    <a:pt x="2223" y="10138"/>
                    <a:pt x="6181" y="6181"/>
                  </a:cubicBezTo>
                  <a:cubicBezTo>
                    <a:pt x="10138" y="2223"/>
                    <a:pt x="15505" y="0"/>
                    <a:pt x="21102" y="0"/>
                  </a:cubicBezTo>
                  <a:close/>
                </a:path>
              </a:pathLst>
            </a:custGeom>
            <a:solidFill>
              <a:srgbClr val="728F82"/>
            </a:solidFill>
          </p:spPr>
        </p:sp>
        <p:sp>
          <p:nvSpPr>
            <p:cNvPr name="TextBox 8" id="8"/>
            <p:cNvSpPr txBox="true"/>
            <p:nvPr/>
          </p:nvSpPr>
          <p:spPr>
            <a:xfrm>
              <a:off x="0" y="-47625"/>
              <a:ext cx="1474434" cy="257175"/>
            </a:xfrm>
            <a:prstGeom prst="rect">
              <a:avLst/>
            </a:prstGeom>
          </p:spPr>
          <p:txBody>
            <a:bodyPr anchor="ctr" rtlCol="false" tIns="50800" lIns="50800" bIns="50800" rIns="50800"/>
            <a:lstStyle/>
            <a:p>
              <a:pPr algn="ctr">
                <a:lnSpc>
                  <a:spcPts val="3382"/>
                </a:lnSpc>
              </a:pPr>
            </a:p>
          </p:txBody>
        </p:sp>
      </p:grpSp>
      <p:grpSp>
        <p:nvGrpSpPr>
          <p:cNvPr name="Group 9" id="9"/>
          <p:cNvGrpSpPr/>
          <p:nvPr/>
        </p:nvGrpSpPr>
        <p:grpSpPr>
          <a:xfrm rot="0">
            <a:off x="1668533" y="4125087"/>
            <a:ext cx="7165750" cy="1018413"/>
            <a:chOff x="0" y="0"/>
            <a:chExt cx="1474434" cy="209550"/>
          </a:xfrm>
        </p:grpSpPr>
        <p:sp>
          <p:nvSpPr>
            <p:cNvPr name="Freeform 10" id="10"/>
            <p:cNvSpPr/>
            <p:nvPr/>
          </p:nvSpPr>
          <p:spPr>
            <a:xfrm flipH="false" flipV="false" rot="0">
              <a:off x="0" y="0"/>
              <a:ext cx="1474434" cy="209550"/>
            </a:xfrm>
            <a:custGeom>
              <a:avLst/>
              <a:gdLst/>
              <a:ahLst/>
              <a:cxnLst/>
              <a:rect r="r" b="b" t="t" l="l"/>
              <a:pathLst>
                <a:path h="209550" w="1474434">
                  <a:moveTo>
                    <a:pt x="21102" y="0"/>
                  </a:moveTo>
                  <a:lnTo>
                    <a:pt x="1453332" y="0"/>
                  </a:lnTo>
                  <a:cubicBezTo>
                    <a:pt x="1458929" y="0"/>
                    <a:pt x="1464296" y="2223"/>
                    <a:pt x="1468254" y="6181"/>
                  </a:cubicBezTo>
                  <a:cubicBezTo>
                    <a:pt x="1472211" y="10138"/>
                    <a:pt x="1474434" y="15505"/>
                    <a:pt x="1474434" y="21102"/>
                  </a:cubicBezTo>
                  <a:lnTo>
                    <a:pt x="1474434" y="188448"/>
                  </a:lnTo>
                  <a:cubicBezTo>
                    <a:pt x="1474434" y="200102"/>
                    <a:pt x="1464987" y="209550"/>
                    <a:pt x="1453332" y="209550"/>
                  </a:cubicBezTo>
                  <a:lnTo>
                    <a:pt x="21102" y="209550"/>
                  </a:lnTo>
                  <a:cubicBezTo>
                    <a:pt x="15505" y="209550"/>
                    <a:pt x="10138" y="207327"/>
                    <a:pt x="6181" y="203369"/>
                  </a:cubicBezTo>
                  <a:cubicBezTo>
                    <a:pt x="2223" y="199412"/>
                    <a:pt x="0" y="194045"/>
                    <a:pt x="0" y="188448"/>
                  </a:cubicBezTo>
                  <a:lnTo>
                    <a:pt x="0" y="21102"/>
                  </a:lnTo>
                  <a:cubicBezTo>
                    <a:pt x="0" y="15505"/>
                    <a:pt x="2223" y="10138"/>
                    <a:pt x="6181" y="6181"/>
                  </a:cubicBezTo>
                  <a:cubicBezTo>
                    <a:pt x="10138" y="2223"/>
                    <a:pt x="15505" y="0"/>
                    <a:pt x="21102" y="0"/>
                  </a:cubicBezTo>
                  <a:close/>
                </a:path>
              </a:pathLst>
            </a:custGeom>
            <a:solidFill>
              <a:srgbClr val="728F82"/>
            </a:solidFill>
          </p:spPr>
        </p:sp>
        <p:sp>
          <p:nvSpPr>
            <p:cNvPr name="TextBox 11" id="11"/>
            <p:cNvSpPr txBox="true"/>
            <p:nvPr/>
          </p:nvSpPr>
          <p:spPr>
            <a:xfrm>
              <a:off x="0" y="-47625"/>
              <a:ext cx="1474434" cy="257175"/>
            </a:xfrm>
            <a:prstGeom prst="rect">
              <a:avLst/>
            </a:prstGeom>
          </p:spPr>
          <p:txBody>
            <a:bodyPr anchor="ctr" rtlCol="false" tIns="50800" lIns="50800" bIns="50800" rIns="50800"/>
            <a:lstStyle/>
            <a:p>
              <a:pPr algn="ctr">
                <a:lnSpc>
                  <a:spcPts val="3382"/>
                </a:lnSpc>
              </a:pPr>
            </a:p>
          </p:txBody>
        </p:sp>
      </p:grpSp>
      <p:grpSp>
        <p:nvGrpSpPr>
          <p:cNvPr name="Group 12" id="12"/>
          <p:cNvGrpSpPr/>
          <p:nvPr/>
        </p:nvGrpSpPr>
        <p:grpSpPr>
          <a:xfrm rot="0">
            <a:off x="1668533" y="5218206"/>
            <a:ext cx="7165750" cy="1018413"/>
            <a:chOff x="0" y="0"/>
            <a:chExt cx="1474434" cy="209550"/>
          </a:xfrm>
        </p:grpSpPr>
        <p:sp>
          <p:nvSpPr>
            <p:cNvPr name="Freeform 13" id="13"/>
            <p:cNvSpPr/>
            <p:nvPr/>
          </p:nvSpPr>
          <p:spPr>
            <a:xfrm flipH="false" flipV="false" rot="0">
              <a:off x="0" y="0"/>
              <a:ext cx="1474434" cy="209550"/>
            </a:xfrm>
            <a:custGeom>
              <a:avLst/>
              <a:gdLst/>
              <a:ahLst/>
              <a:cxnLst/>
              <a:rect r="r" b="b" t="t" l="l"/>
              <a:pathLst>
                <a:path h="209550" w="1474434">
                  <a:moveTo>
                    <a:pt x="21102" y="0"/>
                  </a:moveTo>
                  <a:lnTo>
                    <a:pt x="1453332" y="0"/>
                  </a:lnTo>
                  <a:cubicBezTo>
                    <a:pt x="1458929" y="0"/>
                    <a:pt x="1464296" y="2223"/>
                    <a:pt x="1468254" y="6181"/>
                  </a:cubicBezTo>
                  <a:cubicBezTo>
                    <a:pt x="1472211" y="10138"/>
                    <a:pt x="1474434" y="15505"/>
                    <a:pt x="1474434" y="21102"/>
                  </a:cubicBezTo>
                  <a:lnTo>
                    <a:pt x="1474434" y="188448"/>
                  </a:lnTo>
                  <a:cubicBezTo>
                    <a:pt x="1474434" y="200102"/>
                    <a:pt x="1464987" y="209550"/>
                    <a:pt x="1453332" y="209550"/>
                  </a:cubicBezTo>
                  <a:lnTo>
                    <a:pt x="21102" y="209550"/>
                  </a:lnTo>
                  <a:cubicBezTo>
                    <a:pt x="15505" y="209550"/>
                    <a:pt x="10138" y="207327"/>
                    <a:pt x="6181" y="203369"/>
                  </a:cubicBezTo>
                  <a:cubicBezTo>
                    <a:pt x="2223" y="199412"/>
                    <a:pt x="0" y="194045"/>
                    <a:pt x="0" y="188448"/>
                  </a:cubicBezTo>
                  <a:lnTo>
                    <a:pt x="0" y="21102"/>
                  </a:lnTo>
                  <a:cubicBezTo>
                    <a:pt x="0" y="15505"/>
                    <a:pt x="2223" y="10138"/>
                    <a:pt x="6181" y="6181"/>
                  </a:cubicBezTo>
                  <a:cubicBezTo>
                    <a:pt x="10138" y="2223"/>
                    <a:pt x="15505" y="0"/>
                    <a:pt x="21102" y="0"/>
                  </a:cubicBezTo>
                  <a:close/>
                </a:path>
              </a:pathLst>
            </a:custGeom>
            <a:solidFill>
              <a:srgbClr val="728F82"/>
            </a:solidFill>
          </p:spPr>
        </p:sp>
        <p:sp>
          <p:nvSpPr>
            <p:cNvPr name="TextBox 14" id="14"/>
            <p:cNvSpPr txBox="true"/>
            <p:nvPr/>
          </p:nvSpPr>
          <p:spPr>
            <a:xfrm>
              <a:off x="0" y="-47625"/>
              <a:ext cx="1474434" cy="257175"/>
            </a:xfrm>
            <a:prstGeom prst="rect">
              <a:avLst/>
            </a:prstGeom>
          </p:spPr>
          <p:txBody>
            <a:bodyPr anchor="ctr" rtlCol="false" tIns="50800" lIns="50800" bIns="50800" rIns="50800"/>
            <a:lstStyle/>
            <a:p>
              <a:pPr algn="ctr">
                <a:lnSpc>
                  <a:spcPts val="3382"/>
                </a:lnSpc>
              </a:pPr>
            </a:p>
          </p:txBody>
        </p:sp>
      </p:grpSp>
      <p:grpSp>
        <p:nvGrpSpPr>
          <p:cNvPr name="Group 15" id="15"/>
          <p:cNvGrpSpPr/>
          <p:nvPr/>
        </p:nvGrpSpPr>
        <p:grpSpPr>
          <a:xfrm rot="0">
            <a:off x="1668533" y="6311326"/>
            <a:ext cx="7165750" cy="1018413"/>
            <a:chOff x="0" y="0"/>
            <a:chExt cx="1474434" cy="209550"/>
          </a:xfrm>
        </p:grpSpPr>
        <p:sp>
          <p:nvSpPr>
            <p:cNvPr name="Freeform 16" id="16"/>
            <p:cNvSpPr/>
            <p:nvPr/>
          </p:nvSpPr>
          <p:spPr>
            <a:xfrm flipH="false" flipV="false" rot="0">
              <a:off x="0" y="0"/>
              <a:ext cx="1474434" cy="209550"/>
            </a:xfrm>
            <a:custGeom>
              <a:avLst/>
              <a:gdLst/>
              <a:ahLst/>
              <a:cxnLst/>
              <a:rect r="r" b="b" t="t" l="l"/>
              <a:pathLst>
                <a:path h="209550" w="1474434">
                  <a:moveTo>
                    <a:pt x="21102" y="0"/>
                  </a:moveTo>
                  <a:lnTo>
                    <a:pt x="1453332" y="0"/>
                  </a:lnTo>
                  <a:cubicBezTo>
                    <a:pt x="1458929" y="0"/>
                    <a:pt x="1464296" y="2223"/>
                    <a:pt x="1468254" y="6181"/>
                  </a:cubicBezTo>
                  <a:cubicBezTo>
                    <a:pt x="1472211" y="10138"/>
                    <a:pt x="1474434" y="15505"/>
                    <a:pt x="1474434" y="21102"/>
                  </a:cubicBezTo>
                  <a:lnTo>
                    <a:pt x="1474434" y="188448"/>
                  </a:lnTo>
                  <a:cubicBezTo>
                    <a:pt x="1474434" y="200102"/>
                    <a:pt x="1464987" y="209550"/>
                    <a:pt x="1453332" y="209550"/>
                  </a:cubicBezTo>
                  <a:lnTo>
                    <a:pt x="21102" y="209550"/>
                  </a:lnTo>
                  <a:cubicBezTo>
                    <a:pt x="15505" y="209550"/>
                    <a:pt x="10138" y="207327"/>
                    <a:pt x="6181" y="203369"/>
                  </a:cubicBezTo>
                  <a:cubicBezTo>
                    <a:pt x="2223" y="199412"/>
                    <a:pt x="0" y="194045"/>
                    <a:pt x="0" y="188448"/>
                  </a:cubicBezTo>
                  <a:lnTo>
                    <a:pt x="0" y="21102"/>
                  </a:lnTo>
                  <a:cubicBezTo>
                    <a:pt x="0" y="15505"/>
                    <a:pt x="2223" y="10138"/>
                    <a:pt x="6181" y="6181"/>
                  </a:cubicBezTo>
                  <a:cubicBezTo>
                    <a:pt x="10138" y="2223"/>
                    <a:pt x="15505" y="0"/>
                    <a:pt x="21102" y="0"/>
                  </a:cubicBezTo>
                  <a:close/>
                </a:path>
              </a:pathLst>
            </a:custGeom>
            <a:solidFill>
              <a:srgbClr val="728F82"/>
            </a:solidFill>
          </p:spPr>
        </p:sp>
        <p:sp>
          <p:nvSpPr>
            <p:cNvPr name="TextBox 17" id="17"/>
            <p:cNvSpPr txBox="true"/>
            <p:nvPr/>
          </p:nvSpPr>
          <p:spPr>
            <a:xfrm>
              <a:off x="0" y="-47625"/>
              <a:ext cx="1474434" cy="257175"/>
            </a:xfrm>
            <a:prstGeom prst="rect">
              <a:avLst/>
            </a:prstGeom>
          </p:spPr>
          <p:txBody>
            <a:bodyPr anchor="ctr" rtlCol="false" tIns="50800" lIns="50800" bIns="50800" rIns="50800"/>
            <a:lstStyle/>
            <a:p>
              <a:pPr algn="ctr">
                <a:lnSpc>
                  <a:spcPts val="3382"/>
                </a:lnSpc>
              </a:pPr>
            </a:p>
          </p:txBody>
        </p:sp>
      </p:grpSp>
      <p:grpSp>
        <p:nvGrpSpPr>
          <p:cNvPr name="Group 18" id="18"/>
          <p:cNvGrpSpPr/>
          <p:nvPr/>
        </p:nvGrpSpPr>
        <p:grpSpPr>
          <a:xfrm rot="0">
            <a:off x="1668533" y="7404445"/>
            <a:ext cx="7165750" cy="1018413"/>
            <a:chOff x="0" y="0"/>
            <a:chExt cx="1474434" cy="209550"/>
          </a:xfrm>
        </p:grpSpPr>
        <p:sp>
          <p:nvSpPr>
            <p:cNvPr name="Freeform 19" id="19"/>
            <p:cNvSpPr/>
            <p:nvPr/>
          </p:nvSpPr>
          <p:spPr>
            <a:xfrm flipH="false" flipV="false" rot="0">
              <a:off x="0" y="0"/>
              <a:ext cx="1474434" cy="209550"/>
            </a:xfrm>
            <a:custGeom>
              <a:avLst/>
              <a:gdLst/>
              <a:ahLst/>
              <a:cxnLst/>
              <a:rect r="r" b="b" t="t" l="l"/>
              <a:pathLst>
                <a:path h="209550" w="1474434">
                  <a:moveTo>
                    <a:pt x="21102" y="0"/>
                  </a:moveTo>
                  <a:lnTo>
                    <a:pt x="1453332" y="0"/>
                  </a:lnTo>
                  <a:cubicBezTo>
                    <a:pt x="1458929" y="0"/>
                    <a:pt x="1464296" y="2223"/>
                    <a:pt x="1468254" y="6181"/>
                  </a:cubicBezTo>
                  <a:cubicBezTo>
                    <a:pt x="1472211" y="10138"/>
                    <a:pt x="1474434" y="15505"/>
                    <a:pt x="1474434" y="21102"/>
                  </a:cubicBezTo>
                  <a:lnTo>
                    <a:pt x="1474434" y="188448"/>
                  </a:lnTo>
                  <a:cubicBezTo>
                    <a:pt x="1474434" y="200102"/>
                    <a:pt x="1464987" y="209550"/>
                    <a:pt x="1453332" y="209550"/>
                  </a:cubicBezTo>
                  <a:lnTo>
                    <a:pt x="21102" y="209550"/>
                  </a:lnTo>
                  <a:cubicBezTo>
                    <a:pt x="15505" y="209550"/>
                    <a:pt x="10138" y="207327"/>
                    <a:pt x="6181" y="203369"/>
                  </a:cubicBezTo>
                  <a:cubicBezTo>
                    <a:pt x="2223" y="199412"/>
                    <a:pt x="0" y="194045"/>
                    <a:pt x="0" y="188448"/>
                  </a:cubicBezTo>
                  <a:lnTo>
                    <a:pt x="0" y="21102"/>
                  </a:lnTo>
                  <a:cubicBezTo>
                    <a:pt x="0" y="15505"/>
                    <a:pt x="2223" y="10138"/>
                    <a:pt x="6181" y="6181"/>
                  </a:cubicBezTo>
                  <a:cubicBezTo>
                    <a:pt x="10138" y="2223"/>
                    <a:pt x="15505" y="0"/>
                    <a:pt x="21102" y="0"/>
                  </a:cubicBezTo>
                  <a:close/>
                </a:path>
              </a:pathLst>
            </a:custGeom>
            <a:solidFill>
              <a:srgbClr val="728F82"/>
            </a:solidFill>
          </p:spPr>
        </p:sp>
        <p:sp>
          <p:nvSpPr>
            <p:cNvPr name="TextBox 20" id="20"/>
            <p:cNvSpPr txBox="true"/>
            <p:nvPr/>
          </p:nvSpPr>
          <p:spPr>
            <a:xfrm>
              <a:off x="0" y="-47625"/>
              <a:ext cx="1474434" cy="257175"/>
            </a:xfrm>
            <a:prstGeom prst="rect">
              <a:avLst/>
            </a:prstGeom>
          </p:spPr>
          <p:txBody>
            <a:bodyPr anchor="ctr" rtlCol="false" tIns="50800" lIns="50800" bIns="50800" rIns="50800"/>
            <a:lstStyle/>
            <a:p>
              <a:pPr algn="ctr">
                <a:lnSpc>
                  <a:spcPts val="3382"/>
                </a:lnSpc>
              </a:pPr>
            </a:p>
          </p:txBody>
        </p:sp>
      </p:grpSp>
      <p:sp>
        <p:nvSpPr>
          <p:cNvPr name="TextBox 21" id="21"/>
          <p:cNvSpPr txBox="true"/>
          <p:nvPr/>
        </p:nvSpPr>
        <p:spPr>
          <a:xfrm rot="0">
            <a:off x="2182197" y="314325"/>
            <a:ext cx="13019703" cy="2360460"/>
          </a:xfrm>
          <a:prstGeom prst="rect">
            <a:avLst/>
          </a:prstGeom>
        </p:spPr>
        <p:txBody>
          <a:bodyPr anchor="t" rtlCol="false" tIns="0" lIns="0" bIns="0" rIns="0">
            <a:spAutoFit/>
          </a:bodyPr>
          <a:lstStyle/>
          <a:p>
            <a:pPr algn="ctr">
              <a:lnSpc>
                <a:spcPts val="8861"/>
              </a:lnSpc>
            </a:pPr>
            <a:r>
              <a:rPr lang="en-US" b="true" sz="10185" u="sng">
                <a:solidFill>
                  <a:srgbClr val="728F82"/>
                </a:solidFill>
                <a:latin typeface="Inria Serif Bold"/>
                <a:ea typeface="Inria Serif Bold"/>
                <a:cs typeface="Inria Serif Bold"/>
                <a:sym typeface="Inria Serif Bold"/>
              </a:rPr>
              <a:t>Contribution of each member</a:t>
            </a:r>
          </a:p>
        </p:txBody>
      </p:sp>
      <p:sp>
        <p:nvSpPr>
          <p:cNvPr name="TextBox 22" id="22"/>
          <p:cNvSpPr txBox="true"/>
          <p:nvPr/>
        </p:nvSpPr>
        <p:spPr>
          <a:xfrm rot="0">
            <a:off x="1668533" y="3085364"/>
            <a:ext cx="7165750" cy="820648"/>
          </a:xfrm>
          <a:prstGeom prst="rect">
            <a:avLst/>
          </a:prstGeom>
        </p:spPr>
        <p:txBody>
          <a:bodyPr anchor="t" rtlCol="false" tIns="0" lIns="0" bIns="0" rIns="0">
            <a:spAutoFit/>
          </a:bodyPr>
          <a:lstStyle/>
          <a:p>
            <a:pPr algn="ctr">
              <a:lnSpc>
                <a:spcPts val="6742"/>
              </a:lnSpc>
              <a:spcBef>
                <a:spcPct val="0"/>
              </a:spcBef>
            </a:pPr>
            <a:r>
              <a:rPr lang="en-US" b="true" sz="4816">
                <a:solidFill>
                  <a:srgbClr val="FFFFFF"/>
                </a:solidFill>
                <a:latin typeface="Inria Serif Bold"/>
                <a:ea typeface="Inria Serif Bold"/>
                <a:cs typeface="Inria Serif Bold"/>
                <a:sym typeface="Inria Serif Bold"/>
              </a:rPr>
              <a:t>Anushka Jain</a:t>
            </a:r>
          </a:p>
        </p:txBody>
      </p:sp>
      <p:sp>
        <p:nvSpPr>
          <p:cNvPr name="TextBox 23" id="23"/>
          <p:cNvSpPr txBox="true"/>
          <p:nvPr/>
        </p:nvSpPr>
        <p:spPr>
          <a:xfrm rot="0">
            <a:off x="1668533" y="6362583"/>
            <a:ext cx="7165750" cy="820648"/>
          </a:xfrm>
          <a:prstGeom prst="rect">
            <a:avLst/>
          </a:prstGeom>
        </p:spPr>
        <p:txBody>
          <a:bodyPr anchor="t" rtlCol="false" tIns="0" lIns="0" bIns="0" rIns="0">
            <a:spAutoFit/>
          </a:bodyPr>
          <a:lstStyle/>
          <a:p>
            <a:pPr algn="ctr" marL="0" indent="0" lvl="0">
              <a:lnSpc>
                <a:spcPts val="6742"/>
              </a:lnSpc>
              <a:spcBef>
                <a:spcPct val="0"/>
              </a:spcBef>
            </a:pPr>
            <a:r>
              <a:rPr lang="en-US" b="true" sz="4816" strike="noStrike" u="none">
                <a:solidFill>
                  <a:srgbClr val="FFFFFF"/>
                </a:solidFill>
                <a:latin typeface="Inria Serif Bold"/>
                <a:ea typeface="Inria Serif Bold"/>
                <a:cs typeface="Inria Serif Bold"/>
                <a:sym typeface="Inria Serif Bold"/>
              </a:rPr>
              <a:t>Priyanshu singh</a:t>
            </a:r>
          </a:p>
        </p:txBody>
      </p:sp>
      <p:sp>
        <p:nvSpPr>
          <p:cNvPr name="TextBox 24" id="24"/>
          <p:cNvSpPr txBox="true"/>
          <p:nvPr/>
        </p:nvSpPr>
        <p:spPr>
          <a:xfrm rot="0">
            <a:off x="1668533" y="7453564"/>
            <a:ext cx="7165750" cy="820648"/>
          </a:xfrm>
          <a:prstGeom prst="rect">
            <a:avLst/>
          </a:prstGeom>
        </p:spPr>
        <p:txBody>
          <a:bodyPr anchor="t" rtlCol="false" tIns="0" lIns="0" bIns="0" rIns="0">
            <a:spAutoFit/>
          </a:bodyPr>
          <a:lstStyle/>
          <a:p>
            <a:pPr algn="ctr" marL="0" indent="0" lvl="0">
              <a:lnSpc>
                <a:spcPts val="6742"/>
              </a:lnSpc>
              <a:spcBef>
                <a:spcPct val="0"/>
              </a:spcBef>
            </a:pPr>
            <a:r>
              <a:rPr lang="en-US" b="true" sz="4816" strike="noStrike" u="none">
                <a:solidFill>
                  <a:srgbClr val="FFFFFF"/>
                </a:solidFill>
                <a:latin typeface="Inria Serif Bold"/>
                <a:ea typeface="Inria Serif Bold"/>
                <a:cs typeface="Inria Serif Bold"/>
                <a:sym typeface="Inria Serif Bold"/>
              </a:rPr>
              <a:t>Shudhanshu Jaiswal</a:t>
            </a:r>
          </a:p>
        </p:txBody>
      </p:sp>
      <p:sp>
        <p:nvSpPr>
          <p:cNvPr name="TextBox 25" id="25"/>
          <p:cNvSpPr txBox="true"/>
          <p:nvPr/>
        </p:nvSpPr>
        <p:spPr>
          <a:xfrm rot="0">
            <a:off x="1668533" y="4176345"/>
            <a:ext cx="7165750" cy="820648"/>
          </a:xfrm>
          <a:prstGeom prst="rect">
            <a:avLst/>
          </a:prstGeom>
        </p:spPr>
        <p:txBody>
          <a:bodyPr anchor="t" rtlCol="false" tIns="0" lIns="0" bIns="0" rIns="0">
            <a:spAutoFit/>
          </a:bodyPr>
          <a:lstStyle/>
          <a:p>
            <a:pPr algn="ctr" marL="0" indent="0" lvl="0">
              <a:lnSpc>
                <a:spcPts val="6742"/>
              </a:lnSpc>
              <a:spcBef>
                <a:spcPct val="0"/>
              </a:spcBef>
            </a:pPr>
            <a:r>
              <a:rPr lang="en-US" b="true" sz="4816" strike="noStrike" u="none">
                <a:solidFill>
                  <a:srgbClr val="FFFFFF"/>
                </a:solidFill>
                <a:latin typeface="Inria Serif Bold"/>
                <a:ea typeface="Inria Serif Bold"/>
                <a:cs typeface="Inria Serif Bold"/>
                <a:sym typeface="Inria Serif Bold"/>
              </a:rPr>
              <a:t>Helly Vyas</a:t>
            </a:r>
          </a:p>
        </p:txBody>
      </p:sp>
      <p:sp>
        <p:nvSpPr>
          <p:cNvPr name="TextBox 26" id="26"/>
          <p:cNvSpPr txBox="true"/>
          <p:nvPr/>
        </p:nvSpPr>
        <p:spPr>
          <a:xfrm rot="0">
            <a:off x="1668533" y="5269464"/>
            <a:ext cx="7165750" cy="820648"/>
          </a:xfrm>
          <a:prstGeom prst="rect">
            <a:avLst/>
          </a:prstGeom>
        </p:spPr>
        <p:txBody>
          <a:bodyPr anchor="t" rtlCol="false" tIns="0" lIns="0" bIns="0" rIns="0">
            <a:spAutoFit/>
          </a:bodyPr>
          <a:lstStyle/>
          <a:p>
            <a:pPr algn="ctr" marL="0" indent="0" lvl="0">
              <a:lnSpc>
                <a:spcPts val="6742"/>
              </a:lnSpc>
              <a:spcBef>
                <a:spcPct val="0"/>
              </a:spcBef>
            </a:pPr>
            <a:r>
              <a:rPr lang="en-US" b="true" sz="4816" strike="noStrike" u="none">
                <a:solidFill>
                  <a:srgbClr val="FFFFFF"/>
                </a:solidFill>
                <a:latin typeface="Inria Serif Bold"/>
                <a:ea typeface="Inria Serif Bold"/>
                <a:cs typeface="Inria Serif Bold"/>
                <a:sym typeface="Inria Serif Bold"/>
              </a:rPr>
              <a:t>Mishti Aggrawal</a:t>
            </a:r>
          </a:p>
        </p:txBody>
      </p:sp>
      <p:grpSp>
        <p:nvGrpSpPr>
          <p:cNvPr name="Group 27" id="27"/>
          <p:cNvGrpSpPr/>
          <p:nvPr/>
        </p:nvGrpSpPr>
        <p:grpSpPr>
          <a:xfrm rot="0">
            <a:off x="10111037" y="3031968"/>
            <a:ext cx="5090863" cy="5601870"/>
            <a:chOff x="0" y="0"/>
            <a:chExt cx="6787818" cy="7469160"/>
          </a:xfrm>
        </p:grpSpPr>
        <p:grpSp>
          <p:nvGrpSpPr>
            <p:cNvPr name="Group 28" id="28"/>
            <p:cNvGrpSpPr/>
            <p:nvPr/>
          </p:nvGrpSpPr>
          <p:grpSpPr>
            <a:xfrm rot="0">
              <a:off x="0" y="0"/>
              <a:ext cx="6787818" cy="1357884"/>
              <a:chOff x="0" y="0"/>
              <a:chExt cx="1047503" cy="209550"/>
            </a:xfrm>
          </p:grpSpPr>
          <p:sp>
            <p:nvSpPr>
              <p:cNvPr name="Freeform 29" id="29"/>
              <p:cNvSpPr/>
              <p:nvPr/>
            </p:nvSpPr>
            <p:spPr>
              <a:xfrm flipH="false" flipV="false" rot="0">
                <a:off x="0" y="0"/>
                <a:ext cx="1047503" cy="209550"/>
              </a:xfrm>
              <a:custGeom>
                <a:avLst/>
                <a:gdLst/>
                <a:ahLst/>
                <a:cxnLst/>
                <a:rect r="r" b="b" t="t" l="l"/>
                <a:pathLst>
                  <a:path h="209550" w="1047503">
                    <a:moveTo>
                      <a:pt x="29702" y="0"/>
                    </a:moveTo>
                    <a:lnTo>
                      <a:pt x="1017801" y="0"/>
                    </a:lnTo>
                    <a:cubicBezTo>
                      <a:pt x="1025678" y="0"/>
                      <a:pt x="1033233" y="3129"/>
                      <a:pt x="1038803" y="8700"/>
                    </a:cubicBezTo>
                    <a:cubicBezTo>
                      <a:pt x="1044373" y="14270"/>
                      <a:pt x="1047503" y="21825"/>
                      <a:pt x="1047503" y="29702"/>
                    </a:cubicBezTo>
                    <a:lnTo>
                      <a:pt x="1047503" y="179848"/>
                    </a:lnTo>
                    <a:cubicBezTo>
                      <a:pt x="1047503" y="187725"/>
                      <a:pt x="1044373" y="195280"/>
                      <a:pt x="1038803" y="200850"/>
                    </a:cubicBezTo>
                    <a:cubicBezTo>
                      <a:pt x="1033233" y="206421"/>
                      <a:pt x="1025678" y="209550"/>
                      <a:pt x="1017801" y="209550"/>
                    </a:cubicBezTo>
                    <a:lnTo>
                      <a:pt x="29702" y="209550"/>
                    </a:lnTo>
                    <a:cubicBezTo>
                      <a:pt x="21825" y="209550"/>
                      <a:pt x="14270" y="206421"/>
                      <a:pt x="8700" y="200850"/>
                    </a:cubicBezTo>
                    <a:cubicBezTo>
                      <a:pt x="3129" y="195280"/>
                      <a:pt x="0" y="187725"/>
                      <a:pt x="0" y="179848"/>
                    </a:cubicBezTo>
                    <a:lnTo>
                      <a:pt x="0" y="29702"/>
                    </a:lnTo>
                    <a:cubicBezTo>
                      <a:pt x="0" y="21825"/>
                      <a:pt x="3129" y="14270"/>
                      <a:pt x="8700" y="8700"/>
                    </a:cubicBezTo>
                    <a:cubicBezTo>
                      <a:pt x="14270" y="3129"/>
                      <a:pt x="21825" y="0"/>
                      <a:pt x="29702" y="0"/>
                    </a:cubicBezTo>
                    <a:close/>
                  </a:path>
                </a:pathLst>
              </a:custGeom>
              <a:solidFill>
                <a:srgbClr val="B4B6B3"/>
              </a:solidFill>
            </p:spPr>
          </p:sp>
          <p:sp>
            <p:nvSpPr>
              <p:cNvPr name="TextBox 30" id="30"/>
              <p:cNvSpPr txBox="true"/>
              <p:nvPr/>
            </p:nvSpPr>
            <p:spPr>
              <a:xfrm>
                <a:off x="0" y="-47625"/>
                <a:ext cx="1047503" cy="257175"/>
              </a:xfrm>
              <a:prstGeom prst="rect">
                <a:avLst/>
              </a:prstGeom>
            </p:spPr>
            <p:txBody>
              <a:bodyPr anchor="ctr" rtlCol="false" tIns="50800" lIns="50800" bIns="50800" rIns="50800"/>
              <a:lstStyle/>
              <a:p>
                <a:pPr algn="ctr">
                  <a:lnSpc>
                    <a:spcPts val="3382"/>
                  </a:lnSpc>
                </a:pPr>
              </a:p>
            </p:txBody>
          </p:sp>
        </p:grpSp>
        <p:grpSp>
          <p:nvGrpSpPr>
            <p:cNvPr name="Group 31" id="31"/>
            <p:cNvGrpSpPr/>
            <p:nvPr/>
          </p:nvGrpSpPr>
          <p:grpSpPr>
            <a:xfrm rot="0">
              <a:off x="0" y="1492414"/>
              <a:ext cx="6787818" cy="1357884"/>
              <a:chOff x="0" y="0"/>
              <a:chExt cx="1047503" cy="209550"/>
            </a:xfrm>
          </p:grpSpPr>
          <p:sp>
            <p:nvSpPr>
              <p:cNvPr name="Freeform 32" id="32"/>
              <p:cNvSpPr/>
              <p:nvPr/>
            </p:nvSpPr>
            <p:spPr>
              <a:xfrm flipH="false" flipV="false" rot="0">
                <a:off x="0" y="0"/>
                <a:ext cx="1047503" cy="209550"/>
              </a:xfrm>
              <a:custGeom>
                <a:avLst/>
                <a:gdLst/>
                <a:ahLst/>
                <a:cxnLst/>
                <a:rect r="r" b="b" t="t" l="l"/>
                <a:pathLst>
                  <a:path h="209550" w="1047503">
                    <a:moveTo>
                      <a:pt x="29702" y="0"/>
                    </a:moveTo>
                    <a:lnTo>
                      <a:pt x="1017801" y="0"/>
                    </a:lnTo>
                    <a:cubicBezTo>
                      <a:pt x="1025678" y="0"/>
                      <a:pt x="1033233" y="3129"/>
                      <a:pt x="1038803" y="8700"/>
                    </a:cubicBezTo>
                    <a:cubicBezTo>
                      <a:pt x="1044373" y="14270"/>
                      <a:pt x="1047503" y="21825"/>
                      <a:pt x="1047503" y="29702"/>
                    </a:cubicBezTo>
                    <a:lnTo>
                      <a:pt x="1047503" y="179848"/>
                    </a:lnTo>
                    <a:cubicBezTo>
                      <a:pt x="1047503" y="187725"/>
                      <a:pt x="1044373" y="195280"/>
                      <a:pt x="1038803" y="200850"/>
                    </a:cubicBezTo>
                    <a:cubicBezTo>
                      <a:pt x="1033233" y="206421"/>
                      <a:pt x="1025678" y="209550"/>
                      <a:pt x="1017801" y="209550"/>
                    </a:cubicBezTo>
                    <a:lnTo>
                      <a:pt x="29702" y="209550"/>
                    </a:lnTo>
                    <a:cubicBezTo>
                      <a:pt x="21825" y="209550"/>
                      <a:pt x="14270" y="206421"/>
                      <a:pt x="8700" y="200850"/>
                    </a:cubicBezTo>
                    <a:cubicBezTo>
                      <a:pt x="3129" y="195280"/>
                      <a:pt x="0" y="187725"/>
                      <a:pt x="0" y="179848"/>
                    </a:cubicBezTo>
                    <a:lnTo>
                      <a:pt x="0" y="29702"/>
                    </a:lnTo>
                    <a:cubicBezTo>
                      <a:pt x="0" y="21825"/>
                      <a:pt x="3129" y="14270"/>
                      <a:pt x="8700" y="8700"/>
                    </a:cubicBezTo>
                    <a:cubicBezTo>
                      <a:pt x="14270" y="3129"/>
                      <a:pt x="21825" y="0"/>
                      <a:pt x="29702" y="0"/>
                    </a:cubicBezTo>
                    <a:close/>
                  </a:path>
                </a:pathLst>
              </a:custGeom>
              <a:solidFill>
                <a:srgbClr val="B4B6B3"/>
              </a:solidFill>
            </p:spPr>
          </p:sp>
          <p:sp>
            <p:nvSpPr>
              <p:cNvPr name="TextBox 33" id="33"/>
              <p:cNvSpPr txBox="true"/>
              <p:nvPr/>
            </p:nvSpPr>
            <p:spPr>
              <a:xfrm>
                <a:off x="0" y="-47625"/>
                <a:ext cx="1047503" cy="257175"/>
              </a:xfrm>
              <a:prstGeom prst="rect">
                <a:avLst/>
              </a:prstGeom>
            </p:spPr>
            <p:txBody>
              <a:bodyPr anchor="ctr" rtlCol="false" tIns="50800" lIns="50800" bIns="50800" rIns="50800"/>
              <a:lstStyle/>
              <a:p>
                <a:pPr algn="ctr">
                  <a:lnSpc>
                    <a:spcPts val="3382"/>
                  </a:lnSpc>
                </a:pPr>
              </a:p>
            </p:txBody>
          </p:sp>
        </p:grpSp>
        <p:grpSp>
          <p:nvGrpSpPr>
            <p:cNvPr name="Group 34" id="34"/>
            <p:cNvGrpSpPr/>
            <p:nvPr/>
          </p:nvGrpSpPr>
          <p:grpSpPr>
            <a:xfrm rot="0">
              <a:off x="0" y="3053498"/>
              <a:ext cx="6787818" cy="1357884"/>
              <a:chOff x="0" y="0"/>
              <a:chExt cx="1047503" cy="209550"/>
            </a:xfrm>
          </p:grpSpPr>
          <p:sp>
            <p:nvSpPr>
              <p:cNvPr name="Freeform 35" id="35"/>
              <p:cNvSpPr/>
              <p:nvPr/>
            </p:nvSpPr>
            <p:spPr>
              <a:xfrm flipH="false" flipV="false" rot="0">
                <a:off x="0" y="0"/>
                <a:ext cx="1047503" cy="209550"/>
              </a:xfrm>
              <a:custGeom>
                <a:avLst/>
                <a:gdLst/>
                <a:ahLst/>
                <a:cxnLst/>
                <a:rect r="r" b="b" t="t" l="l"/>
                <a:pathLst>
                  <a:path h="209550" w="1047503">
                    <a:moveTo>
                      <a:pt x="29702" y="0"/>
                    </a:moveTo>
                    <a:lnTo>
                      <a:pt x="1017801" y="0"/>
                    </a:lnTo>
                    <a:cubicBezTo>
                      <a:pt x="1025678" y="0"/>
                      <a:pt x="1033233" y="3129"/>
                      <a:pt x="1038803" y="8700"/>
                    </a:cubicBezTo>
                    <a:cubicBezTo>
                      <a:pt x="1044373" y="14270"/>
                      <a:pt x="1047503" y="21825"/>
                      <a:pt x="1047503" y="29702"/>
                    </a:cubicBezTo>
                    <a:lnTo>
                      <a:pt x="1047503" y="179848"/>
                    </a:lnTo>
                    <a:cubicBezTo>
                      <a:pt x="1047503" y="187725"/>
                      <a:pt x="1044373" y="195280"/>
                      <a:pt x="1038803" y="200850"/>
                    </a:cubicBezTo>
                    <a:cubicBezTo>
                      <a:pt x="1033233" y="206421"/>
                      <a:pt x="1025678" y="209550"/>
                      <a:pt x="1017801" y="209550"/>
                    </a:cubicBezTo>
                    <a:lnTo>
                      <a:pt x="29702" y="209550"/>
                    </a:lnTo>
                    <a:cubicBezTo>
                      <a:pt x="21825" y="209550"/>
                      <a:pt x="14270" y="206421"/>
                      <a:pt x="8700" y="200850"/>
                    </a:cubicBezTo>
                    <a:cubicBezTo>
                      <a:pt x="3129" y="195280"/>
                      <a:pt x="0" y="187725"/>
                      <a:pt x="0" y="179848"/>
                    </a:cubicBezTo>
                    <a:lnTo>
                      <a:pt x="0" y="29702"/>
                    </a:lnTo>
                    <a:cubicBezTo>
                      <a:pt x="0" y="21825"/>
                      <a:pt x="3129" y="14270"/>
                      <a:pt x="8700" y="8700"/>
                    </a:cubicBezTo>
                    <a:cubicBezTo>
                      <a:pt x="14270" y="3129"/>
                      <a:pt x="21825" y="0"/>
                      <a:pt x="29702" y="0"/>
                    </a:cubicBezTo>
                    <a:close/>
                  </a:path>
                </a:pathLst>
              </a:custGeom>
              <a:solidFill>
                <a:srgbClr val="B4B6B3"/>
              </a:solidFill>
            </p:spPr>
          </p:sp>
          <p:sp>
            <p:nvSpPr>
              <p:cNvPr name="TextBox 36" id="36"/>
              <p:cNvSpPr txBox="true"/>
              <p:nvPr/>
            </p:nvSpPr>
            <p:spPr>
              <a:xfrm>
                <a:off x="0" y="-47625"/>
                <a:ext cx="1047503" cy="257175"/>
              </a:xfrm>
              <a:prstGeom prst="rect">
                <a:avLst/>
              </a:prstGeom>
            </p:spPr>
            <p:txBody>
              <a:bodyPr anchor="ctr" rtlCol="false" tIns="50800" lIns="50800" bIns="50800" rIns="50800"/>
              <a:lstStyle/>
              <a:p>
                <a:pPr algn="ctr">
                  <a:lnSpc>
                    <a:spcPts val="3382"/>
                  </a:lnSpc>
                </a:pPr>
              </a:p>
            </p:txBody>
          </p:sp>
        </p:grpSp>
        <p:grpSp>
          <p:nvGrpSpPr>
            <p:cNvPr name="Group 37" id="37"/>
            <p:cNvGrpSpPr/>
            <p:nvPr/>
          </p:nvGrpSpPr>
          <p:grpSpPr>
            <a:xfrm rot="0">
              <a:off x="0" y="4610600"/>
              <a:ext cx="6787818" cy="1357884"/>
              <a:chOff x="0" y="0"/>
              <a:chExt cx="1047503" cy="209550"/>
            </a:xfrm>
          </p:grpSpPr>
          <p:sp>
            <p:nvSpPr>
              <p:cNvPr name="Freeform 38" id="38"/>
              <p:cNvSpPr/>
              <p:nvPr/>
            </p:nvSpPr>
            <p:spPr>
              <a:xfrm flipH="false" flipV="false" rot="0">
                <a:off x="0" y="0"/>
                <a:ext cx="1047503" cy="209550"/>
              </a:xfrm>
              <a:custGeom>
                <a:avLst/>
                <a:gdLst/>
                <a:ahLst/>
                <a:cxnLst/>
                <a:rect r="r" b="b" t="t" l="l"/>
                <a:pathLst>
                  <a:path h="209550" w="1047503">
                    <a:moveTo>
                      <a:pt x="29702" y="0"/>
                    </a:moveTo>
                    <a:lnTo>
                      <a:pt x="1017801" y="0"/>
                    </a:lnTo>
                    <a:cubicBezTo>
                      <a:pt x="1025678" y="0"/>
                      <a:pt x="1033233" y="3129"/>
                      <a:pt x="1038803" y="8700"/>
                    </a:cubicBezTo>
                    <a:cubicBezTo>
                      <a:pt x="1044373" y="14270"/>
                      <a:pt x="1047503" y="21825"/>
                      <a:pt x="1047503" y="29702"/>
                    </a:cubicBezTo>
                    <a:lnTo>
                      <a:pt x="1047503" y="179848"/>
                    </a:lnTo>
                    <a:cubicBezTo>
                      <a:pt x="1047503" y="187725"/>
                      <a:pt x="1044373" y="195280"/>
                      <a:pt x="1038803" y="200850"/>
                    </a:cubicBezTo>
                    <a:cubicBezTo>
                      <a:pt x="1033233" y="206421"/>
                      <a:pt x="1025678" y="209550"/>
                      <a:pt x="1017801" y="209550"/>
                    </a:cubicBezTo>
                    <a:lnTo>
                      <a:pt x="29702" y="209550"/>
                    </a:lnTo>
                    <a:cubicBezTo>
                      <a:pt x="21825" y="209550"/>
                      <a:pt x="14270" y="206421"/>
                      <a:pt x="8700" y="200850"/>
                    </a:cubicBezTo>
                    <a:cubicBezTo>
                      <a:pt x="3129" y="195280"/>
                      <a:pt x="0" y="187725"/>
                      <a:pt x="0" y="179848"/>
                    </a:cubicBezTo>
                    <a:lnTo>
                      <a:pt x="0" y="29702"/>
                    </a:lnTo>
                    <a:cubicBezTo>
                      <a:pt x="0" y="21825"/>
                      <a:pt x="3129" y="14270"/>
                      <a:pt x="8700" y="8700"/>
                    </a:cubicBezTo>
                    <a:cubicBezTo>
                      <a:pt x="14270" y="3129"/>
                      <a:pt x="21825" y="0"/>
                      <a:pt x="29702" y="0"/>
                    </a:cubicBezTo>
                    <a:close/>
                  </a:path>
                </a:pathLst>
              </a:custGeom>
              <a:solidFill>
                <a:srgbClr val="B4B6B3"/>
              </a:solidFill>
            </p:spPr>
          </p:sp>
          <p:sp>
            <p:nvSpPr>
              <p:cNvPr name="TextBox 39" id="39"/>
              <p:cNvSpPr txBox="true"/>
              <p:nvPr/>
            </p:nvSpPr>
            <p:spPr>
              <a:xfrm>
                <a:off x="0" y="-47625"/>
                <a:ext cx="1047503" cy="257175"/>
              </a:xfrm>
              <a:prstGeom prst="rect">
                <a:avLst/>
              </a:prstGeom>
            </p:spPr>
            <p:txBody>
              <a:bodyPr anchor="ctr" rtlCol="false" tIns="50800" lIns="50800" bIns="50800" rIns="50800"/>
              <a:lstStyle/>
              <a:p>
                <a:pPr algn="ctr">
                  <a:lnSpc>
                    <a:spcPts val="3382"/>
                  </a:lnSpc>
                </a:pPr>
              </a:p>
            </p:txBody>
          </p:sp>
        </p:grpSp>
        <p:grpSp>
          <p:nvGrpSpPr>
            <p:cNvPr name="Group 40" id="40"/>
            <p:cNvGrpSpPr/>
            <p:nvPr/>
          </p:nvGrpSpPr>
          <p:grpSpPr>
            <a:xfrm rot="0">
              <a:off x="0" y="6108184"/>
              <a:ext cx="6787818" cy="1357884"/>
              <a:chOff x="0" y="0"/>
              <a:chExt cx="1047503" cy="209550"/>
            </a:xfrm>
          </p:grpSpPr>
          <p:sp>
            <p:nvSpPr>
              <p:cNvPr name="Freeform 41" id="41"/>
              <p:cNvSpPr/>
              <p:nvPr/>
            </p:nvSpPr>
            <p:spPr>
              <a:xfrm flipH="false" flipV="false" rot="0">
                <a:off x="0" y="0"/>
                <a:ext cx="1047503" cy="209550"/>
              </a:xfrm>
              <a:custGeom>
                <a:avLst/>
                <a:gdLst/>
                <a:ahLst/>
                <a:cxnLst/>
                <a:rect r="r" b="b" t="t" l="l"/>
                <a:pathLst>
                  <a:path h="209550" w="1047503">
                    <a:moveTo>
                      <a:pt x="29702" y="0"/>
                    </a:moveTo>
                    <a:lnTo>
                      <a:pt x="1017801" y="0"/>
                    </a:lnTo>
                    <a:cubicBezTo>
                      <a:pt x="1025678" y="0"/>
                      <a:pt x="1033233" y="3129"/>
                      <a:pt x="1038803" y="8700"/>
                    </a:cubicBezTo>
                    <a:cubicBezTo>
                      <a:pt x="1044373" y="14270"/>
                      <a:pt x="1047503" y="21825"/>
                      <a:pt x="1047503" y="29702"/>
                    </a:cubicBezTo>
                    <a:lnTo>
                      <a:pt x="1047503" y="179848"/>
                    </a:lnTo>
                    <a:cubicBezTo>
                      <a:pt x="1047503" y="187725"/>
                      <a:pt x="1044373" y="195280"/>
                      <a:pt x="1038803" y="200850"/>
                    </a:cubicBezTo>
                    <a:cubicBezTo>
                      <a:pt x="1033233" y="206421"/>
                      <a:pt x="1025678" y="209550"/>
                      <a:pt x="1017801" y="209550"/>
                    </a:cubicBezTo>
                    <a:lnTo>
                      <a:pt x="29702" y="209550"/>
                    </a:lnTo>
                    <a:cubicBezTo>
                      <a:pt x="21825" y="209550"/>
                      <a:pt x="14270" y="206421"/>
                      <a:pt x="8700" y="200850"/>
                    </a:cubicBezTo>
                    <a:cubicBezTo>
                      <a:pt x="3129" y="195280"/>
                      <a:pt x="0" y="187725"/>
                      <a:pt x="0" y="179848"/>
                    </a:cubicBezTo>
                    <a:lnTo>
                      <a:pt x="0" y="29702"/>
                    </a:lnTo>
                    <a:cubicBezTo>
                      <a:pt x="0" y="21825"/>
                      <a:pt x="3129" y="14270"/>
                      <a:pt x="8700" y="8700"/>
                    </a:cubicBezTo>
                    <a:cubicBezTo>
                      <a:pt x="14270" y="3129"/>
                      <a:pt x="21825" y="0"/>
                      <a:pt x="29702" y="0"/>
                    </a:cubicBezTo>
                    <a:close/>
                  </a:path>
                </a:pathLst>
              </a:custGeom>
              <a:solidFill>
                <a:srgbClr val="B4B6B3"/>
              </a:solidFill>
            </p:spPr>
          </p:sp>
          <p:sp>
            <p:nvSpPr>
              <p:cNvPr name="TextBox 42" id="42"/>
              <p:cNvSpPr txBox="true"/>
              <p:nvPr/>
            </p:nvSpPr>
            <p:spPr>
              <a:xfrm>
                <a:off x="0" y="-47625"/>
                <a:ext cx="1047503" cy="257175"/>
              </a:xfrm>
              <a:prstGeom prst="rect">
                <a:avLst/>
              </a:prstGeom>
            </p:spPr>
            <p:txBody>
              <a:bodyPr anchor="ctr" rtlCol="false" tIns="50800" lIns="50800" bIns="50800" rIns="50800"/>
              <a:lstStyle/>
              <a:p>
                <a:pPr algn="ctr">
                  <a:lnSpc>
                    <a:spcPts val="3382"/>
                  </a:lnSpc>
                </a:pPr>
              </a:p>
            </p:txBody>
          </p:sp>
        </p:grpSp>
        <p:sp>
          <p:nvSpPr>
            <p:cNvPr name="TextBox 43" id="43"/>
            <p:cNvSpPr txBox="true"/>
            <p:nvPr/>
          </p:nvSpPr>
          <p:spPr>
            <a:xfrm rot="0">
              <a:off x="2489742" y="155209"/>
              <a:ext cx="1808335" cy="1134005"/>
            </a:xfrm>
            <a:prstGeom prst="rect">
              <a:avLst/>
            </a:prstGeom>
          </p:spPr>
          <p:txBody>
            <a:bodyPr anchor="t" rtlCol="false" tIns="0" lIns="0" bIns="0" rIns="0">
              <a:spAutoFit/>
            </a:bodyPr>
            <a:lstStyle/>
            <a:p>
              <a:pPr algn="ctr">
                <a:lnSpc>
                  <a:spcPts val="7109"/>
                </a:lnSpc>
                <a:spcBef>
                  <a:spcPct val="0"/>
                </a:spcBef>
              </a:pPr>
              <a:r>
                <a:rPr lang="en-US" b="true" sz="5078">
                  <a:solidFill>
                    <a:srgbClr val="000000"/>
                  </a:solidFill>
                  <a:latin typeface="Inria Serif Bold"/>
                  <a:ea typeface="Inria Serif Bold"/>
                  <a:cs typeface="Inria Serif Bold"/>
                  <a:sym typeface="Inria Serif Bold"/>
                </a:rPr>
                <a:t>20%</a:t>
              </a:r>
            </a:p>
          </p:txBody>
        </p:sp>
        <p:sp>
          <p:nvSpPr>
            <p:cNvPr name="TextBox 44" id="44"/>
            <p:cNvSpPr txBox="true"/>
            <p:nvPr/>
          </p:nvSpPr>
          <p:spPr>
            <a:xfrm rot="0">
              <a:off x="2489742" y="1655558"/>
              <a:ext cx="1808335" cy="1134005"/>
            </a:xfrm>
            <a:prstGeom prst="rect">
              <a:avLst/>
            </a:prstGeom>
          </p:spPr>
          <p:txBody>
            <a:bodyPr anchor="t" rtlCol="false" tIns="0" lIns="0" bIns="0" rIns="0">
              <a:spAutoFit/>
            </a:bodyPr>
            <a:lstStyle/>
            <a:p>
              <a:pPr algn="ctr">
                <a:lnSpc>
                  <a:spcPts val="7109"/>
                </a:lnSpc>
                <a:spcBef>
                  <a:spcPct val="0"/>
                </a:spcBef>
              </a:pPr>
              <a:r>
                <a:rPr lang="en-US" b="true" sz="5078">
                  <a:solidFill>
                    <a:srgbClr val="000000"/>
                  </a:solidFill>
                  <a:latin typeface="Inria Serif Bold"/>
                  <a:ea typeface="Inria Serif Bold"/>
                  <a:cs typeface="Inria Serif Bold"/>
                  <a:sym typeface="Inria Serif Bold"/>
                </a:rPr>
                <a:t>20%</a:t>
              </a:r>
            </a:p>
          </p:txBody>
        </p:sp>
        <p:sp>
          <p:nvSpPr>
            <p:cNvPr name="TextBox 45" id="45"/>
            <p:cNvSpPr txBox="true"/>
            <p:nvPr/>
          </p:nvSpPr>
          <p:spPr>
            <a:xfrm rot="0">
              <a:off x="2489742" y="3215423"/>
              <a:ext cx="1808335" cy="1134005"/>
            </a:xfrm>
            <a:prstGeom prst="rect">
              <a:avLst/>
            </a:prstGeom>
          </p:spPr>
          <p:txBody>
            <a:bodyPr anchor="t" rtlCol="false" tIns="0" lIns="0" bIns="0" rIns="0">
              <a:spAutoFit/>
            </a:bodyPr>
            <a:lstStyle/>
            <a:p>
              <a:pPr algn="ctr">
                <a:lnSpc>
                  <a:spcPts val="7109"/>
                </a:lnSpc>
                <a:spcBef>
                  <a:spcPct val="0"/>
                </a:spcBef>
              </a:pPr>
              <a:r>
                <a:rPr lang="en-US" b="true" sz="5078">
                  <a:solidFill>
                    <a:srgbClr val="000000"/>
                  </a:solidFill>
                  <a:latin typeface="Inria Serif Bold"/>
                  <a:ea typeface="Inria Serif Bold"/>
                  <a:cs typeface="Inria Serif Bold"/>
                  <a:sym typeface="Inria Serif Bold"/>
                </a:rPr>
                <a:t>20%</a:t>
              </a:r>
            </a:p>
          </p:txBody>
        </p:sp>
        <p:sp>
          <p:nvSpPr>
            <p:cNvPr name="TextBox 46" id="46"/>
            <p:cNvSpPr txBox="true"/>
            <p:nvPr/>
          </p:nvSpPr>
          <p:spPr>
            <a:xfrm rot="0">
              <a:off x="2489742" y="4775289"/>
              <a:ext cx="1808335" cy="1134005"/>
            </a:xfrm>
            <a:prstGeom prst="rect">
              <a:avLst/>
            </a:prstGeom>
          </p:spPr>
          <p:txBody>
            <a:bodyPr anchor="t" rtlCol="false" tIns="0" lIns="0" bIns="0" rIns="0">
              <a:spAutoFit/>
            </a:bodyPr>
            <a:lstStyle/>
            <a:p>
              <a:pPr algn="ctr">
                <a:lnSpc>
                  <a:spcPts val="7109"/>
                </a:lnSpc>
                <a:spcBef>
                  <a:spcPct val="0"/>
                </a:spcBef>
              </a:pPr>
              <a:r>
                <a:rPr lang="en-US" b="true" sz="5078">
                  <a:solidFill>
                    <a:srgbClr val="000000"/>
                  </a:solidFill>
                  <a:latin typeface="Inria Serif Bold"/>
                  <a:ea typeface="Inria Serif Bold"/>
                  <a:cs typeface="Inria Serif Bold"/>
                  <a:sym typeface="Inria Serif Bold"/>
                </a:rPr>
                <a:t>20%</a:t>
              </a:r>
            </a:p>
          </p:txBody>
        </p:sp>
        <p:sp>
          <p:nvSpPr>
            <p:cNvPr name="TextBox 47" id="47"/>
            <p:cNvSpPr txBox="true"/>
            <p:nvPr/>
          </p:nvSpPr>
          <p:spPr>
            <a:xfrm rot="0">
              <a:off x="2489742" y="6335155"/>
              <a:ext cx="1808335" cy="1134005"/>
            </a:xfrm>
            <a:prstGeom prst="rect">
              <a:avLst/>
            </a:prstGeom>
          </p:spPr>
          <p:txBody>
            <a:bodyPr anchor="t" rtlCol="false" tIns="0" lIns="0" bIns="0" rIns="0">
              <a:spAutoFit/>
            </a:bodyPr>
            <a:lstStyle/>
            <a:p>
              <a:pPr algn="ctr">
                <a:lnSpc>
                  <a:spcPts val="7109"/>
                </a:lnSpc>
                <a:spcBef>
                  <a:spcPct val="0"/>
                </a:spcBef>
              </a:pPr>
              <a:r>
                <a:rPr lang="en-US" b="true" sz="5078">
                  <a:solidFill>
                    <a:srgbClr val="000000"/>
                  </a:solidFill>
                  <a:latin typeface="Inria Serif Bold"/>
                  <a:ea typeface="Inria Serif Bold"/>
                  <a:cs typeface="Inria Serif Bold"/>
                  <a:sym typeface="Inria Serif Bold"/>
                </a:rPr>
                <a:t>20%</a:t>
              </a:r>
            </a:p>
          </p:txBody>
        </p:sp>
      </p:grpSp>
      <p:sp>
        <p:nvSpPr>
          <p:cNvPr name="Freeform 48" id="48"/>
          <p:cNvSpPr/>
          <p:nvPr/>
        </p:nvSpPr>
        <p:spPr>
          <a:xfrm flipH="true" flipV="true" rot="0">
            <a:off x="14918790" y="-1486339"/>
            <a:ext cx="4823705" cy="4114800"/>
          </a:xfrm>
          <a:custGeom>
            <a:avLst/>
            <a:gdLst/>
            <a:ahLst/>
            <a:cxnLst/>
            <a:rect r="r" b="b" t="t" l="l"/>
            <a:pathLst>
              <a:path h="4114800" w="4823705">
                <a:moveTo>
                  <a:pt x="4823705" y="4114800"/>
                </a:moveTo>
                <a:lnTo>
                  <a:pt x="0" y="4114800"/>
                </a:lnTo>
                <a:lnTo>
                  <a:pt x="0" y="0"/>
                </a:lnTo>
                <a:lnTo>
                  <a:pt x="4823705" y="0"/>
                </a:lnTo>
                <a:lnTo>
                  <a:pt x="4823705"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FFC"/>
        </a:solidFill>
      </p:bgPr>
    </p:bg>
    <p:spTree>
      <p:nvGrpSpPr>
        <p:cNvPr id="1" name=""/>
        <p:cNvGrpSpPr/>
        <p:nvPr/>
      </p:nvGrpSpPr>
      <p:grpSpPr>
        <a:xfrm>
          <a:off x="0" y="0"/>
          <a:ext cx="0" cy="0"/>
          <a:chOff x="0" y="0"/>
          <a:chExt cx="0" cy="0"/>
        </a:xfrm>
      </p:grpSpPr>
      <p:sp>
        <p:nvSpPr>
          <p:cNvPr name="Freeform 2" id="2"/>
          <p:cNvSpPr/>
          <p:nvPr/>
        </p:nvSpPr>
        <p:spPr>
          <a:xfrm flipH="false" flipV="true" rot="0">
            <a:off x="-3795005" y="1556844"/>
            <a:ext cx="4823705" cy="4114800"/>
          </a:xfrm>
          <a:custGeom>
            <a:avLst/>
            <a:gdLst/>
            <a:ahLst/>
            <a:cxnLst/>
            <a:rect r="r" b="b" t="t" l="l"/>
            <a:pathLst>
              <a:path h="4114800" w="4823705">
                <a:moveTo>
                  <a:pt x="0" y="4114800"/>
                </a:moveTo>
                <a:lnTo>
                  <a:pt x="4823705" y="4114800"/>
                </a:lnTo>
                <a:lnTo>
                  <a:pt x="482370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745001">
            <a:off x="147317" y="31948"/>
            <a:ext cx="1762766" cy="4114800"/>
          </a:xfrm>
          <a:custGeom>
            <a:avLst/>
            <a:gdLst/>
            <a:ahLst/>
            <a:cxnLst/>
            <a:rect r="r" b="b" t="t" l="l"/>
            <a:pathLst>
              <a:path h="4114800" w="1762766">
                <a:moveTo>
                  <a:pt x="0" y="0"/>
                </a:moveTo>
                <a:lnTo>
                  <a:pt x="1762766" y="0"/>
                </a:lnTo>
                <a:lnTo>
                  <a:pt x="176276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16794618" y="4843293"/>
            <a:ext cx="4823705" cy="4114800"/>
          </a:xfrm>
          <a:custGeom>
            <a:avLst/>
            <a:gdLst/>
            <a:ahLst/>
            <a:cxnLst/>
            <a:rect r="r" b="b" t="t" l="l"/>
            <a:pathLst>
              <a:path h="4114800" w="4823705">
                <a:moveTo>
                  <a:pt x="0" y="4114800"/>
                </a:moveTo>
                <a:lnTo>
                  <a:pt x="4823705" y="4114800"/>
                </a:lnTo>
                <a:lnTo>
                  <a:pt x="4823705"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1745001">
            <a:off x="16377917" y="6140252"/>
            <a:ext cx="1762766" cy="4114800"/>
          </a:xfrm>
          <a:custGeom>
            <a:avLst/>
            <a:gdLst/>
            <a:ahLst/>
            <a:cxnLst/>
            <a:rect r="r" b="b" t="t" l="l"/>
            <a:pathLst>
              <a:path h="4114800" w="1762766">
                <a:moveTo>
                  <a:pt x="1762766" y="4114800"/>
                </a:moveTo>
                <a:lnTo>
                  <a:pt x="0" y="4114800"/>
                </a:lnTo>
                <a:lnTo>
                  <a:pt x="0" y="0"/>
                </a:lnTo>
                <a:lnTo>
                  <a:pt x="1762766" y="0"/>
                </a:lnTo>
                <a:lnTo>
                  <a:pt x="1762766"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58623" y="6900693"/>
            <a:ext cx="5116974" cy="5116974"/>
          </a:xfrm>
          <a:custGeom>
            <a:avLst/>
            <a:gdLst/>
            <a:ahLst/>
            <a:cxnLst/>
            <a:rect r="r" b="b" t="t" l="l"/>
            <a:pathLst>
              <a:path h="5116974" w="5116974">
                <a:moveTo>
                  <a:pt x="0" y="0"/>
                </a:moveTo>
                <a:lnTo>
                  <a:pt x="5116974" y="0"/>
                </a:lnTo>
                <a:lnTo>
                  <a:pt x="5116974" y="5116975"/>
                </a:lnTo>
                <a:lnTo>
                  <a:pt x="0" y="51169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929649" y="-1730668"/>
            <a:ext cx="5116974" cy="5116974"/>
          </a:xfrm>
          <a:custGeom>
            <a:avLst/>
            <a:gdLst/>
            <a:ahLst/>
            <a:cxnLst/>
            <a:rect r="r" b="b" t="t" l="l"/>
            <a:pathLst>
              <a:path h="5116974" w="5116974">
                <a:moveTo>
                  <a:pt x="0" y="0"/>
                </a:moveTo>
                <a:lnTo>
                  <a:pt x="5116974" y="0"/>
                </a:lnTo>
                <a:lnTo>
                  <a:pt x="5116974" y="5116975"/>
                </a:lnTo>
                <a:lnTo>
                  <a:pt x="0" y="51169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355949" y="9258300"/>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4161366" y="-1646271"/>
            <a:ext cx="2770685" cy="2674971"/>
          </a:xfrm>
          <a:custGeom>
            <a:avLst/>
            <a:gdLst/>
            <a:ahLst/>
            <a:cxnLst/>
            <a:rect r="r" b="b" t="t" l="l"/>
            <a:pathLst>
              <a:path h="2674971" w="2770685">
                <a:moveTo>
                  <a:pt x="0" y="0"/>
                </a:moveTo>
                <a:lnTo>
                  <a:pt x="2770685" y="0"/>
                </a:lnTo>
                <a:lnTo>
                  <a:pt x="2770685" y="2674971"/>
                </a:lnTo>
                <a:lnTo>
                  <a:pt x="0" y="26749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5400000">
            <a:off x="6319751" y="7967749"/>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5400000">
            <a:off x="10434551" y="-1795549"/>
            <a:ext cx="1533698" cy="4114800"/>
          </a:xfrm>
          <a:custGeom>
            <a:avLst/>
            <a:gdLst/>
            <a:ahLst/>
            <a:cxnLst/>
            <a:rect r="r" b="b" t="t" l="l"/>
            <a:pathLst>
              <a:path h="4114800" w="1533698">
                <a:moveTo>
                  <a:pt x="0" y="0"/>
                </a:moveTo>
                <a:lnTo>
                  <a:pt x="1533698" y="0"/>
                </a:lnTo>
                <a:lnTo>
                  <a:pt x="153369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3966718" y="3421806"/>
            <a:ext cx="10354563" cy="3976789"/>
          </a:xfrm>
          <a:prstGeom prst="rect">
            <a:avLst/>
          </a:prstGeom>
        </p:spPr>
        <p:txBody>
          <a:bodyPr anchor="t" rtlCol="false" tIns="0" lIns="0" bIns="0" rIns="0">
            <a:spAutoFit/>
          </a:bodyPr>
          <a:lstStyle/>
          <a:p>
            <a:pPr algn="ctr">
              <a:lnSpc>
                <a:spcPts val="14929"/>
              </a:lnSpc>
            </a:pPr>
            <a:r>
              <a:rPr lang="en-US" sz="17160" b="true">
                <a:solidFill>
                  <a:srgbClr val="728F82"/>
                </a:solidFill>
                <a:latin typeface="Inria Serif Bold"/>
                <a:ea typeface="Inria Serif Bold"/>
                <a:cs typeface="Inria Serif Bold"/>
                <a:sym typeface="Inria Serif Bold"/>
              </a:rPr>
              <a:t>Thank</a:t>
            </a:r>
          </a:p>
          <a:p>
            <a:pPr algn="ctr">
              <a:lnSpc>
                <a:spcPts val="14929"/>
              </a:lnSpc>
            </a:pPr>
            <a:r>
              <a:rPr lang="en-US" sz="17160" b="true">
                <a:solidFill>
                  <a:srgbClr val="728F82"/>
                </a:solidFill>
                <a:latin typeface="Inria Serif Bold"/>
                <a:ea typeface="Inria Serif Bold"/>
                <a:cs typeface="Inria Serif Bold"/>
                <a:sym typeface="Inria Serif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DAHIPq2g6xo</dc:identifier>
  <dcterms:modified xsi:type="dcterms:W3CDTF">2011-08-01T06:04:30Z</dcterms:modified>
  <cp:revision>1</cp:revision>
  <dc:title>Principle of Computational Thinking</dc:title>
</cp:coreProperties>
</file>